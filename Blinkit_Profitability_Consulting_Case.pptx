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modernComment_10A_1C11BF4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72" r:id="rId6"/>
    <p:sldId id="261" r:id="rId7"/>
    <p:sldId id="262" r:id="rId8"/>
    <p:sldId id="263" r:id="rId9"/>
    <p:sldId id="264" r:id="rId10"/>
    <p:sldId id="265" r:id="rId11"/>
    <p:sldId id="266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C81F73-9A3C-94A6-A148-38FDB0F68BC0}" name="Daksh Bansal" initials="DB" userId="e1f5e32d048a82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91" autoAdjust="0"/>
    <p:restoredTop sz="93447" autoAdjust="0"/>
  </p:normalViewPr>
  <p:slideViewPr>
    <p:cSldViewPr snapToGrid="0">
      <p:cViewPr varScale="1">
        <p:scale>
          <a:sx n="77" d="100"/>
          <a:sy n="77" d="100"/>
        </p:scale>
        <p:origin x="49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A_1C11BF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828667-D386-4C0F-9956-486C7DD0E2D8}" authorId="{96C81F73-9A3C-94A6-A148-38FDB0F68BC0}" created="2026-07-29T23:34:26.24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70925122" sldId="266"/>
      <ac:spMk id="15" creationId="{BF083D8D-36BF-4E43-9EBA-C590C9A2C475}"/>
      <ac:txMk cp="100" len="22">
        <ac:context len="123" hash="4229087216"/>
      </ac:txMk>
    </ac:txMkLst>
    <p188:pos x="1924551" y="1189622"/>
    <p188:txBody>
      <a:bodyPr/>
      <a:lstStyle/>
      <a:p>
        <a:r>
          <a:rPr lang="en-IN"/>
          <a:t>Can remove this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Framing slide. The analysis is independent from the provided background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Model: +₹8-12/order is a case-model range from the initiatives on slides 8-11.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Public context: Eternal describes Blinkit as its quick-commerce platform. Operating-model wording is analytical.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Framework is author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Public reference: Quick commerce reached adjusted EBITDA profitability in Q3 FY26; cost stack is author modelling.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Root-cause hypothesis is author analysis, designed for interview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All ₹/order impacts are non-additive author estimates. Pilot measurement is required before rollout.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Matrix positions are author judgement based on expected controllability and implementation effort.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KPIs are recommended management metrics; public disclosure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Eternal shareholder letters / quarterly results (Q3 FY26); Eternal investor relations; author analysis. Assumptions are explicitly labelled.</a:t>
            </a:r>
          </a:p>
          <a:p>
            <a:r>
              <a:t>Roadmap is author recommendation. Gate examples: CM/order improves while on-time delivery and repeat rate stay inside tolerance.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1C11BF4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E90933A-3544-4F0B-A67E-51EF548A23FF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BUSINESS CASE | QUICK COMMERCE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F86C01-73F5-4309-B16D-E9A6C863B10C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74295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9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Increasing </a:t>
            </a:r>
            <a:r>
              <a:rPr sz="49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Blinkit's</a:t>
            </a:r>
            <a:endParaRPr sz="49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4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9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Profitability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352A33-9C0F-4E8D-955C-F43DE02F50DE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2095500" cy="19050"/>
          </a:xfrm>
          <a:prstGeom prst="rect">
            <a:avLst/>
          </a:prstGeom>
          <a:solidFill>
            <a:srgbClr val="FFCC00"/>
          </a:solidFill>
          <a:ln w="0">
            <a:solidFill>
              <a:srgbClr val="FFCC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E5CD8-4706-4557-99A5-374A0A968080}"/>
              </a:ext>
            </a:extLst>
          </p:cNvPr>
          <p:cNvSpPr>
            <a:spLocks noGrp="1"/>
          </p:cNvSpPr>
          <p:nvPr/>
        </p:nvSpPr>
        <p:spPr>
          <a:xfrm>
            <a:off x="457200" y="4438650"/>
            <a:ext cx="4381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8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dirty="0"/>
              <a:t>A Business Strategy Case Study</a:t>
            </a:r>
            <a:endParaRPr sz="1800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EF5EE-F341-4A2E-971B-68AAF5D0BCF2}"/>
              </a:ext>
            </a:extLst>
          </p:cNvPr>
          <p:cNvSpPr>
            <a:spLocks noGrp="1"/>
          </p:cNvSpPr>
          <p:nvPr/>
        </p:nvSpPr>
        <p:spPr>
          <a:xfrm>
            <a:off x="423333" y="5114925"/>
            <a:ext cx="6572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/>
              <a:t>Objective:</a:t>
            </a:r>
            <a:r>
              <a:rPr lang="en-IN" sz="1275" dirty="0"/>
              <a:t> Identify the key drivers affecting </a:t>
            </a:r>
            <a:r>
              <a:rPr lang="en-IN" sz="1275" dirty="0" err="1"/>
              <a:t>Blinkit's</a:t>
            </a:r>
            <a:r>
              <a:rPr lang="en-IN" sz="1275" dirty="0"/>
              <a:t> profitability and recommend actionable strategies to improve contribution margins while maintaining service quality.</a:t>
            </a:r>
            <a:endParaRPr sz="1275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07D3636-3DE1-4BB5-ADE4-5CFFFEDCA60B}"/>
              </a:ext>
            </a:extLst>
          </p:cNvPr>
          <p:cNvSpPr>
            <a:spLocks noGrp="1"/>
          </p:cNvSpPr>
          <p:nvPr/>
        </p:nvSpPr>
        <p:spPr>
          <a:xfrm>
            <a:off x="8572500" y="1238250"/>
            <a:ext cx="2476500" cy="3524250"/>
          </a:xfrm>
          <a:prstGeom prst="roundRect">
            <a:avLst>
              <a:gd name="adj" fmla="val 4615"/>
            </a:avLst>
          </a:prstGeom>
          <a:solidFill>
            <a:srgbClr val="19212D"/>
          </a:solidFill>
          <a:ln w="9525">
            <a:solidFill>
              <a:srgbClr val="19212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BBA4C2-AF06-465F-BBD7-A24F9DE5CC00}"/>
              </a:ext>
            </a:extLst>
          </p:cNvPr>
          <p:cNvSpPr>
            <a:spLocks noGrp="1"/>
          </p:cNvSpPr>
          <p:nvPr/>
        </p:nvSpPr>
        <p:spPr>
          <a:xfrm>
            <a:off x="8896350" y="1619250"/>
            <a:ext cx="18097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8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FDB3A1-0F8F-45E8-AC7B-E955023FDB71}"/>
              </a:ext>
            </a:extLst>
          </p:cNvPr>
          <p:cNvSpPr>
            <a:spLocks noGrp="1"/>
          </p:cNvSpPr>
          <p:nvPr/>
        </p:nvSpPr>
        <p:spPr>
          <a:xfrm>
            <a:off x="8982075" y="2981325"/>
            <a:ext cx="1638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CC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CC00"/>
                </a:solidFill>
                <a:latin typeface="Arial"/>
                <a:ea typeface="Arial"/>
                <a:cs typeface="Arial"/>
              </a:rPr>
              <a:t>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194304-A022-4EE6-971F-5DAB35EA767C}"/>
              </a:ext>
            </a:extLst>
          </p:cNvPr>
          <p:cNvSpPr>
            <a:spLocks noGrp="1"/>
          </p:cNvSpPr>
          <p:nvPr/>
        </p:nvSpPr>
        <p:spPr>
          <a:xfrm>
            <a:off x="8858250" y="3476625"/>
            <a:ext cx="1905000" cy="19050"/>
          </a:xfrm>
          <a:prstGeom prst="rect">
            <a:avLst/>
          </a:prstGeom>
          <a:solidFill>
            <a:srgbClr val="FFCC00"/>
          </a:solidFill>
          <a:ln w="0">
            <a:solidFill>
              <a:srgbClr val="FFCC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8EBD32-D4AD-4177-AF5C-A1A17AEE0919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1809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597"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customer promise</a:t>
            </a:r>
          </a:p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protected as a guardrail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4C9C8B-60A2-4AA8-90AF-F83067B72FB5}"/>
              </a:ext>
            </a:extLst>
          </p:cNvPr>
          <p:cNvSpPr>
            <a:spLocks noGrp="1"/>
          </p:cNvSpPr>
          <p:nvPr/>
        </p:nvSpPr>
        <p:spPr>
          <a:xfrm>
            <a:off x="423333" y="6009217"/>
            <a:ext cx="3272367" cy="4868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9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900" b="1" dirty="0"/>
              <a:t>Prepared by: Daksh Bansal</a:t>
            </a:r>
            <a:br>
              <a:rPr lang="en-IN" sz="900" dirty="0"/>
            </a:br>
            <a:endParaRPr sz="900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920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31DF54B-6003-468A-A495-E7EBEA05E4B2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298221-F7AE-485A-94EA-DF49F909B407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233"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 err="1"/>
              <a:t>Blinkit</a:t>
            </a:r>
            <a:r>
              <a:rPr lang="en-IN" sz="2400" b="1" dirty="0"/>
              <a:t> Can Improve Profitability Without Compromising 10-Minute Delivery</a:t>
            </a: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6F53BE-32F8-46AB-9BEF-1B3D42EEC27B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Modeled impact is directional; it is not company guidance.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0F94E4-0F68-4B4E-A2DD-0A74133FA1C8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23EB94-5708-423F-B538-D2B95A131147}"/>
              </a:ext>
            </a:extLst>
          </p:cNvPr>
          <p:cNvSpPr>
            <a:spLocks noGrp="1"/>
          </p:cNvSpPr>
          <p:nvPr/>
        </p:nvSpPr>
        <p:spPr>
          <a:xfrm>
            <a:off x="465667" y="1295400"/>
            <a:ext cx="11277600" cy="45719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2B684D-7AAF-4913-B472-CB1F565A8F56}"/>
              </a:ext>
            </a:extLst>
          </p:cNvPr>
          <p:cNvSpPr>
            <a:spLocks noGrp="1"/>
          </p:cNvSpPr>
          <p:nvPr/>
        </p:nvSpPr>
        <p:spPr>
          <a:xfrm>
            <a:off x="519112" y="2064412"/>
            <a:ext cx="2381250" cy="971456"/>
          </a:xfrm>
          <a:prstGeom prst="roundRect">
            <a:avLst>
              <a:gd name="adj" fmla="val 1016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BF9A32-A59E-4946-AF56-96C4A7FD4150}"/>
              </a:ext>
            </a:extLst>
          </p:cNvPr>
          <p:cNvSpPr>
            <a:spLocks noGrp="1"/>
          </p:cNvSpPr>
          <p:nvPr/>
        </p:nvSpPr>
        <p:spPr>
          <a:xfrm flipH="1">
            <a:off x="458258" y="2049901"/>
            <a:ext cx="45719" cy="1030404"/>
          </a:xfrm>
          <a:prstGeom prst="roundRect">
            <a:avLst>
              <a:gd name="adj" fmla="val 50000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B4E179-BEDD-4543-9A48-D0FFDA59BD7D}"/>
              </a:ext>
            </a:extLst>
          </p:cNvPr>
          <p:cNvSpPr>
            <a:spLocks noGrp="1"/>
          </p:cNvSpPr>
          <p:nvPr/>
        </p:nvSpPr>
        <p:spPr>
          <a:xfrm>
            <a:off x="693472" y="1895475"/>
            <a:ext cx="2047875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55000" lnSpcReduction="20000"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lang="en-IN" sz="2400" b="1" dirty="0"/>
          </a:p>
          <a:p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/>
              <a:t>Potential improvement in</a:t>
            </a:r>
          </a:p>
          <a:p>
            <a:pPr algn="ctr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/>
              <a:t> CM/order (Illustrative)</a:t>
            </a: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80B6A3-143C-4FBB-98EA-B5097B74D22E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2047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1050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27C085-C4B3-4DC0-ABFD-03930897718F}"/>
              </a:ext>
            </a:extLst>
          </p:cNvPr>
          <p:cNvSpPr>
            <a:spLocks noGrp="1"/>
          </p:cNvSpPr>
          <p:nvPr/>
        </p:nvSpPr>
        <p:spPr>
          <a:xfrm>
            <a:off x="3191404" y="2057399"/>
            <a:ext cx="2381250" cy="994911"/>
          </a:xfrm>
          <a:prstGeom prst="roundRect">
            <a:avLst>
              <a:gd name="adj" fmla="val 1016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Estimated margin</a:t>
            </a: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improvement (Scenario-based</a:t>
            </a:r>
            <a:r>
              <a:rPr lang="en-IN" b="1" dirty="0"/>
              <a:t>)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D7B669-6540-4F2F-A53E-C4DF983BE279}"/>
              </a:ext>
            </a:extLst>
          </p:cNvPr>
          <p:cNvSpPr>
            <a:spLocks noGrp="1"/>
          </p:cNvSpPr>
          <p:nvPr/>
        </p:nvSpPr>
        <p:spPr>
          <a:xfrm>
            <a:off x="3154626" y="2080202"/>
            <a:ext cx="58206" cy="994912"/>
          </a:xfrm>
          <a:prstGeom prst="roundRect">
            <a:avLst>
              <a:gd name="adj" fmla="val 50000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05E5B8-EDDB-439E-BCE3-F0F34DA6E5BA}"/>
              </a:ext>
            </a:extLst>
          </p:cNvPr>
          <p:cNvSpPr>
            <a:spLocks noGrp="1"/>
          </p:cNvSpPr>
          <p:nvPr/>
        </p:nvSpPr>
        <p:spPr>
          <a:xfrm>
            <a:off x="3324225" y="1885950"/>
            <a:ext cx="2047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958" lnSpcReduction="10000"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560674-EF4A-4250-A0F8-00032A053C94}"/>
              </a:ext>
            </a:extLst>
          </p:cNvPr>
          <p:cNvSpPr>
            <a:spLocks noGrp="1"/>
          </p:cNvSpPr>
          <p:nvPr/>
        </p:nvSpPr>
        <p:spPr>
          <a:xfrm>
            <a:off x="3324225" y="2362200"/>
            <a:ext cx="2047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EEF34E0-4F04-411F-BA09-6F16963D701A}"/>
              </a:ext>
            </a:extLst>
          </p:cNvPr>
          <p:cNvSpPr>
            <a:spLocks noGrp="1"/>
          </p:cNvSpPr>
          <p:nvPr/>
        </p:nvSpPr>
        <p:spPr>
          <a:xfrm>
            <a:off x="5734050" y="2064412"/>
            <a:ext cx="2381250" cy="1015338"/>
          </a:xfrm>
          <a:prstGeom prst="roundRect">
            <a:avLst>
              <a:gd name="adj" fmla="val 1016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CDF396-AD0D-4856-8F66-9A8A045976D5}"/>
              </a:ext>
            </a:extLst>
          </p:cNvPr>
          <p:cNvSpPr>
            <a:spLocks noGrp="1"/>
          </p:cNvSpPr>
          <p:nvPr/>
        </p:nvSpPr>
        <p:spPr>
          <a:xfrm>
            <a:off x="5762149" y="2064411"/>
            <a:ext cx="45719" cy="1011673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7642B0-36CA-4E45-B787-7AF5885F619B}"/>
              </a:ext>
            </a:extLst>
          </p:cNvPr>
          <p:cNvSpPr>
            <a:spLocks noGrp="1"/>
          </p:cNvSpPr>
          <p:nvPr/>
        </p:nvSpPr>
        <p:spPr>
          <a:xfrm>
            <a:off x="5900737" y="2082017"/>
            <a:ext cx="2047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958"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6 months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CD09C-B842-45C5-9910-F336FD060AA5}"/>
              </a:ext>
            </a:extLst>
          </p:cNvPr>
          <p:cNvSpPr>
            <a:spLocks noGrp="1"/>
          </p:cNvSpPr>
          <p:nvPr/>
        </p:nvSpPr>
        <p:spPr>
          <a:xfrm>
            <a:off x="5962650" y="2362200"/>
            <a:ext cx="2047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to validate and scale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84ADFA-0F07-4BD3-BECD-A6546375DCF3}"/>
              </a:ext>
            </a:extLst>
          </p:cNvPr>
          <p:cNvSpPr>
            <a:spLocks noGrp="1"/>
          </p:cNvSpPr>
          <p:nvPr/>
        </p:nvSpPr>
        <p:spPr>
          <a:xfrm>
            <a:off x="8355277" y="2073352"/>
            <a:ext cx="2381250" cy="1022351"/>
          </a:xfrm>
          <a:prstGeom prst="roundRect">
            <a:avLst>
              <a:gd name="adj" fmla="val 1016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E3A309-9037-4798-9E45-3265B80419F0}"/>
              </a:ext>
            </a:extLst>
          </p:cNvPr>
          <p:cNvSpPr>
            <a:spLocks noGrp="1"/>
          </p:cNvSpPr>
          <p:nvPr/>
        </p:nvSpPr>
        <p:spPr>
          <a:xfrm>
            <a:off x="8385757" y="2080202"/>
            <a:ext cx="45719" cy="986926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9525">
            <a:solidFill>
              <a:srgbClr val="FFCC0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86CD15-7661-4CC1-82C4-B89019B71BD7}"/>
              </a:ext>
            </a:extLst>
          </p:cNvPr>
          <p:cNvSpPr>
            <a:spLocks noGrp="1"/>
          </p:cNvSpPr>
          <p:nvPr/>
        </p:nvSpPr>
        <p:spPr>
          <a:xfrm>
            <a:off x="8567737" y="2080202"/>
            <a:ext cx="2047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958"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 min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AD05F4-2278-476D-8780-B1625BBB9724}"/>
              </a:ext>
            </a:extLst>
          </p:cNvPr>
          <p:cNvSpPr>
            <a:spLocks noGrp="1"/>
          </p:cNvSpPr>
          <p:nvPr/>
        </p:nvSpPr>
        <p:spPr>
          <a:xfrm>
            <a:off x="8601075" y="2362200"/>
            <a:ext cx="2047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service promise retained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C8A122-F858-4C4F-93AE-D4956A7A7F8E}"/>
              </a:ext>
            </a:extLst>
          </p:cNvPr>
          <p:cNvSpPr>
            <a:spLocks noGrp="1"/>
          </p:cNvSpPr>
          <p:nvPr/>
        </p:nvSpPr>
        <p:spPr>
          <a:xfrm>
            <a:off x="457200" y="32385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Diagnosis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7FF4E3-4B27-4B79-AD98-204A8F6D5384}"/>
              </a:ext>
            </a:extLst>
          </p:cNvPr>
          <p:cNvSpPr>
            <a:spLocks noGrp="1"/>
          </p:cNvSpPr>
          <p:nvPr/>
        </p:nvSpPr>
        <p:spPr>
          <a:xfrm>
            <a:off x="457200" y="3575023"/>
            <a:ext cx="2697427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 lnSpcReduction="2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Low Average Order Value reduces contribution margin.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Expansion into newer zones lowers order density and increases fulfilment costs.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Heavy discounting supports growth but weakens long-term profitability.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9DCCAB-BF76-435E-9CC7-CCCEDED39B39}"/>
              </a:ext>
            </a:extLst>
          </p:cNvPr>
          <p:cNvSpPr>
            <a:spLocks noGrp="1"/>
          </p:cNvSpPr>
          <p:nvPr/>
        </p:nvSpPr>
        <p:spPr>
          <a:xfrm>
            <a:off x="4429125" y="32385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000" lnSpcReduction="10000"/>
          </a:bodyPr>
          <a:lstStyle/>
          <a:p>
            <a:pPr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/>
              <a:t>Strategic Recommendation</a:t>
            </a:r>
            <a:endParaRPr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4E9589-8E26-494A-AC05-47EE2642067B}"/>
              </a:ext>
            </a:extLst>
          </p:cNvPr>
          <p:cNvSpPr>
            <a:spLocks noGrp="1"/>
          </p:cNvSpPr>
          <p:nvPr/>
        </p:nvSpPr>
        <p:spPr>
          <a:xfrm>
            <a:off x="4429125" y="3642860"/>
            <a:ext cx="2751321" cy="12010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000" lnSpcReduction="1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Increase Average Order Value through basket-building and private-label products.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Improve fulfilment efficiency using rider and dark-store optimisation.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Expand high-margin revenue streams through membership and advertising.</a:t>
            </a:r>
          </a:p>
          <a:p>
            <a:pPr algn="l"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13CFCD-F3A1-4777-BD02-2D926C4680DB}"/>
              </a:ext>
            </a:extLst>
          </p:cNvPr>
          <p:cNvSpPr>
            <a:spLocks noGrp="1"/>
          </p:cNvSpPr>
          <p:nvPr/>
        </p:nvSpPr>
        <p:spPr>
          <a:xfrm>
            <a:off x="8401050" y="3248103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Recommended sequence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5A1C1B-CAC8-4D17-B4F8-7606C71A0BCC}"/>
              </a:ext>
            </a:extLst>
          </p:cNvPr>
          <p:cNvSpPr>
            <a:spLocks noGrp="1"/>
          </p:cNvSpPr>
          <p:nvPr/>
        </p:nvSpPr>
        <p:spPr>
          <a:xfrm>
            <a:off x="8385757" y="3395701"/>
            <a:ext cx="2857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Quick wins first: basket nudges + discount discipline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Then: store clustering + routing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Scale only after unit thresholds hold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C1DC17-FC9D-4537-8BCB-E31CE54D82B2}"/>
              </a:ext>
            </a:extLst>
          </p:cNvPr>
          <p:cNvSpPr>
            <a:spLocks noGrp="1"/>
          </p:cNvSpPr>
          <p:nvPr/>
        </p:nvSpPr>
        <p:spPr>
          <a:xfrm>
            <a:off x="457200" y="5219700"/>
            <a:ext cx="1000125" cy="247650"/>
          </a:xfrm>
          <a:prstGeom prst="roundRect">
            <a:avLst>
              <a:gd name="adj" fmla="val 46154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A3B5CA-CD71-493A-ADCE-D7AAECE8086A}"/>
              </a:ext>
            </a:extLst>
          </p:cNvPr>
          <p:cNvSpPr>
            <a:spLocks noGrp="1"/>
          </p:cNvSpPr>
          <p:nvPr/>
        </p:nvSpPr>
        <p:spPr>
          <a:xfrm>
            <a:off x="552450" y="5248275"/>
            <a:ext cx="809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DADB564-3460-47DD-B5A9-D8882C4F7857}"/>
              </a:ext>
            </a:extLst>
          </p:cNvPr>
          <p:cNvSpPr>
            <a:spLocks noGrp="1"/>
          </p:cNvSpPr>
          <p:nvPr/>
        </p:nvSpPr>
        <p:spPr>
          <a:xfrm>
            <a:off x="1619250" y="521970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692" lnSpcReduction="20000"/>
          </a:bodyPr>
          <a:lstStyle/>
          <a:p>
            <a:pPr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/>
              <a:t>Prioritise Contribution Margin per Order (CM/Order) over GMV as the primary metric for expansion, pricing and operational decisions.</a:t>
            </a:r>
            <a:endParaRPr lang="en-IN"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1D8858-EB29-2E4C-BF55-47F8DECEF0CA}"/>
              </a:ext>
            </a:extLst>
          </p:cNvPr>
          <p:cNvSpPr txBox="1"/>
          <p:nvPr/>
        </p:nvSpPr>
        <p:spPr>
          <a:xfrm>
            <a:off x="381000" y="5900286"/>
            <a:ext cx="10001250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200" dirty="0"/>
              <a:t>Illustrative estimates based on the strategic initiatives proposed in this case. These are not </a:t>
            </a:r>
            <a:r>
              <a:rPr lang="en-IN" sz="1200" dirty="0" err="1"/>
              <a:t>Blinkit's</a:t>
            </a:r>
            <a:r>
              <a:rPr lang="en-IN" sz="1200" dirty="0"/>
              <a:t> reported figures.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06593A-D1DA-9029-608D-CC413D1DE98B}"/>
              </a:ext>
            </a:extLst>
          </p:cNvPr>
          <p:cNvSpPr txBox="1"/>
          <p:nvPr/>
        </p:nvSpPr>
        <p:spPr>
          <a:xfrm>
            <a:off x="381000" y="1440418"/>
            <a:ext cx="115091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 err="1">
                <a:solidFill>
                  <a:srgbClr val="5F5F5F"/>
                </a:solidFill>
              </a:rPr>
              <a:t>Blinkit's</a:t>
            </a:r>
            <a:r>
              <a:rPr lang="en-IN" sz="1400" dirty="0">
                <a:solidFill>
                  <a:srgbClr val="5F5F5F"/>
                </a:solidFill>
              </a:rPr>
              <a:t> rapid expansion has strengthened market presence but has increased pressure on unit economics. This case identifies practical initiatives to improve profitability without compromising customer experience</a:t>
            </a:r>
          </a:p>
          <a:p>
            <a:endParaRPr lang="en-IN" sz="1400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69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C6097868-764B-405E-BADE-ACF29E7FB7F5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1A8FA3-5C84-44C1-9EE0-6069EF2B9178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114"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 err="1"/>
              <a:t>Blinkit's</a:t>
            </a:r>
            <a:r>
              <a:rPr lang="en-IN" sz="2400" b="1" dirty="0"/>
              <a:t> Quick-Commerce Model: Unit Economics Drive Profitability</a:t>
            </a: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AA425A-546E-49F9-907B-60BA47F1F569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Only the operating model needed for the profitability question.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74E80E-65ED-4847-A940-1C425F7A1521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993414-F259-4BFE-A061-A5F8D092BE62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020E85-035A-4D9E-82C0-EDC77BACE3CB}"/>
              </a:ext>
            </a:extLst>
          </p:cNvPr>
          <p:cNvSpPr>
            <a:spLocks noGrp="1"/>
          </p:cNvSpPr>
          <p:nvPr/>
        </p:nvSpPr>
        <p:spPr>
          <a:xfrm>
            <a:off x="7086600" y="1905000"/>
            <a:ext cx="952500" cy="247650"/>
          </a:xfrm>
          <a:prstGeom prst="roundRect">
            <a:avLst>
              <a:gd name="adj" fmla="val 46154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46F52C-DD6D-45ED-BFD7-D067A9011580}"/>
              </a:ext>
            </a:extLst>
          </p:cNvPr>
          <p:cNvSpPr>
            <a:spLocks noGrp="1"/>
          </p:cNvSpPr>
          <p:nvPr/>
        </p:nvSpPr>
        <p:spPr>
          <a:xfrm>
            <a:off x="7181850" y="1933575"/>
            <a:ext cx="762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2DF52DF-CD54-4778-BFFB-713CAC5CE597}"/>
              </a:ext>
            </a:extLst>
          </p:cNvPr>
          <p:cNvSpPr>
            <a:spLocks noGrp="1"/>
          </p:cNvSpPr>
          <p:nvPr/>
        </p:nvSpPr>
        <p:spPr>
          <a:xfrm>
            <a:off x="9191625" y="1905000"/>
            <a:ext cx="1143000" cy="247650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1BAFB0-5E5B-4DE4-A505-E9768D55B10A}"/>
              </a:ext>
            </a:extLst>
          </p:cNvPr>
          <p:cNvSpPr>
            <a:spLocks noGrp="1"/>
          </p:cNvSpPr>
          <p:nvPr/>
        </p:nvSpPr>
        <p:spPr>
          <a:xfrm>
            <a:off x="9286874" y="1933575"/>
            <a:ext cx="10572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FE683-A7D7-4708-A253-522B999FAC2B}"/>
              </a:ext>
            </a:extLst>
          </p:cNvPr>
          <p:cNvSpPr>
            <a:spLocks noGrp="1"/>
          </p:cNvSpPr>
          <p:nvPr/>
        </p:nvSpPr>
        <p:spPr>
          <a:xfrm>
            <a:off x="6010275" y="2028825"/>
            <a:ext cx="1076325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1DF736-046F-4118-BD6C-B07E70955730}"/>
              </a:ext>
            </a:extLst>
          </p:cNvPr>
          <p:cNvSpPr>
            <a:spLocks noGrp="1"/>
          </p:cNvSpPr>
          <p:nvPr/>
        </p:nvSpPr>
        <p:spPr>
          <a:xfrm>
            <a:off x="8039100" y="2028825"/>
            <a:ext cx="1152525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2D484F-CA62-4ADE-BE2A-0A13B48A9997}"/>
              </a:ext>
            </a:extLst>
          </p:cNvPr>
          <p:cNvSpPr>
            <a:spLocks noGrp="1"/>
          </p:cNvSpPr>
          <p:nvPr/>
        </p:nvSpPr>
        <p:spPr>
          <a:xfrm>
            <a:off x="6972300" y="2419350"/>
            <a:ext cx="1190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last-mile</a:t>
            </a:r>
          </a:p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0BE502-958B-4D92-AA25-1204DDD208C6}"/>
              </a:ext>
            </a:extLst>
          </p:cNvPr>
          <p:cNvSpPr>
            <a:spLocks noGrp="1"/>
          </p:cNvSpPr>
          <p:nvPr/>
        </p:nvSpPr>
        <p:spPr>
          <a:xfrm>
            <a:off x="9086850" y="2419350"/>
            <a:ext cx="1381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10-minute</a:t>
            </a:r>
          </a:p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experience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DC1218-4501-4E52-8814-A9EB52028B1C}"/>
              </a:ext>
            </a:extLst>
          </p:cNvPr>
          <p:cNvSpPr>
            <a:spLocks noGrp="1"/>
          </p:cNvSpPr>
          <p:nvPr/>
        </p:nvSpPr>
        <p:spPr>
          <a:xfrm>
            <a:off x="666750" y="4396846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Revenue sources</a:t>
            </a:r>
            <a:r>
              <a:rPr lang="en-IN"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: </a:t>
            </a:r>
            <a:endParaRPr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CCE63A-B99E-4A9F-841E-40ECB4736E60}"/>
              </a:ext>
            </a:extLst>
          </p:cNvPr>
          <p:cNvSpPr>
            <a:spLocks noGrp="1"/>
          </p:cNvSpPr>
          <p:nvPr/>
        </p:nvSpPr>
        <p:spPr>
          <a:xfrm>
            <a:off x="666750" y="5114589"/>
            <a:ext cx="2286000" cy="4254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lang="en-IN"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Value proposition</a:t>
            </a:r>
            <a:r>
              <a:rPr lang="en-IN" sz="142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:</a:t>
            </a:r>
            <a:endParaRPr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033ABF-9C52-4C51-A153-C6834E6DCD5F}"/>
              </a:ext>
            </a:extLst>
          </p:cNvPr>
          <p:cNvSpPr>
            <a:spLocks noGrp="1"/>
          </p:cNvSpPr>
          <p:nvPr/>
        </p:nvSpPr>
        <p:spPr>
          <a:xfrm>
            <a:off x="666750" y="5603131"/>
            <a:ext cx="6515100" cy="14532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12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100" dirty="0"/>
              <a:t>Deliver groceries and essentials within 10 minutes through a network of strategically located dark stores.</a:t>
            </a:r>
            <a:endParaRPr sz="1100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E0DA270-08CC-4C31-B4F7-C21ABF9CA8DF}"/>
              </a:ext>
            </a:extLst>
          </p:cNvPr>
          <p:cNvSpPr>
            <a:spLocks noGrp="1"/>
          </p:cNvSpPr>
          <p:nvPr/>
        </p:nvSpPr>
        <p:spPr>
          <a:xfrm>
            <a:off x="7358061" y="4200525"/>
            <a:ext cx="4095750" cy="17145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77BD4C-B83A-4AC2-86ED-4BF988DF8CDE}"/>
              </a:ext>
            </a:extLst>
          </p:cNvPr>
          <p:cNvSpPr>
            <a:spLocks noGrp="1"/>
          </p:cNvSpPr>
          <p:nvPr/>
        </p:nvSpPr>
        <p:spPr>
          <a:xfrm>
            <a:off x="7715249" y="4511146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/>
              <a:t>Why Profitability Is Challenging</a:t>
            </a:r>
            <a:endParaRPr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E0D45F-A6FE-434B-8DCD-12C37438728F}"/>
              </a:ext>
            </a:extLst>
          </p:cNvPr>
          <p:cNvSpPr>
            <a:spLocks noGrp="1"/>
          </p:cNvSpPr>
          <p:nvPr/>
        </p:nvSpPr>
        <p:spPr>
          <a:xfrm>
            <a:off x="7715249" y="4909762"/>
            <a:ext cx="33813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/>
          </a:bodyPr>
          <a:lstStyle/>
          <a:p>
            <a:pPr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350" dirty="0" err="1"/>
              <a:t>Blinkit's</a:t>
            </a:r>
            <a:r>
              <a:rPr lang="en-IN" sz="1350" dirty="0"/>
              <a:t> profitability depends on balancing high fixed operating costs with sufficient order density, basket value, and repeat purchases.</a:t>
            </a:r>
            <a:endParaRPr sz="1350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D1CDE9-A704-44D0-8EA3-0E168947E095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1143000" cy="247650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19B6C3-B150-4864-BE52-0897FF368392}"/>
              </a:ext>
            </a:extLst>
          </p:cNvPr>
          <p:cNvSpPr>
            <a:spLocks noGrp="1"/>
          </p:cNvSpPr>
          <p:nvPr/>
        </p:nvSpPr>
        <p:spPr>
          <a:xfrm>
            <a:off x="762000" y="1933575"/>
            <a:ext cx="952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831FDF-CB89-4F18-A6F9-3C351856B3B0}"/>
              </a:ext>
            </a:extLst>
          </p:cNvPr>
          <p:cNvSpPr>
            <a:spLocks noGrp="1"/>
          </p:cNvSpPr>
          <p:nvPr/>
        </p:nvSpPr>
        <p:spPr>
          <a:xfrm>
            <a:off x="2781300" y="1905000"/>
            <a:ext cx="857250" cy="247650"/>
          </a:xfrm>
          <a:prstGeom prst="roundRect">
            <a:avLst>
              <a:gd name="adj" fmla="val 46154"/>
            </a:avLst>
          </a:prstGeom>
          <a:solidFill>
            <a:srgbClr val="19212D"/>
          </a:solidFill>
          <a:ln w="9525">
            <a:solidFill>
              <a:srgbClr val="19212D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6330E9-47FC-47E0-9267-7192964616C0}"/>
              </a:ext>
            </a:extLst>
          </p:cNvPr>
          <p:cNvSpPr>
            <a:spLocks noGrp="1"/>
          </p:cNvSpPr>
          <p:nvPr/>
        </p:nvSpPr>
        <p:spPr>
          <a:xfrm>
            <a:off x="2867025" y="1933575"/>
            <a:ext cx="666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8F1D89-DEE0-48BB-9156-1A4B856CFFE4}"/>
              </a:ext>
            </a:extLst>
          </p:cNvPr>
          <p:cNvSpPr>
            <a:spLocks noGrp="1"/>
          </p:cNvSpPr>
          <p:nvPr/>
        </p:nvSpPr>
        <p:spPr>
          <a:xfrm>
            <a:off x="4629150" y="1905000"/>
            <a:ext cx="1381125" cy="247650"/>
          </a:xfrm>
          <a:prstGeom prst="roundRect">
            <a:avLst>
              <a:gd name="adj" fmla="val 46154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177AB3-0D9D-47EB-97C5-489C4BA12BE9}"/>
              </a:ext>
            </a:extLst>
          </p:cNvPr>
          <p:cNvSpPr>
            <a:spLocks noGrp="1"/>
          </p:cNvSpPr>
          <p:nvPr/>
        </p:nvSpPr>
        <p:spPr>
          <a:xfrm>
            <a:off x="4724400" y="1933575"/>
            <a:ext cx="1190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DARK STORE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0497F-3E44-4CB3-A661-EA70C926440F}"/>
              </a:ext>
            </a:extLst>
          </p:cNvPr>
          <p:cNvSpPr>
            <a:spLocks noGrp="1"/>
          </p:cNvSpPr>
          <p:nvPr/>
        </p:nvSpPr>
        <p:spPr>
          <a:xfrm>
            <a:off x="1809750" y="2028825"/>
            <a:ext cx="97155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B562D9-E021-45AE-BFFE-E19DD2C93F0A}"/>
              </a:ext>
            </a:extLst>
          </p:cNvPr>
          <p:cNvSpPr>
            <a:spLocks noGrp="1"/>
          </p:cNvSpPr>
          <p:nvPr/>
        </p:nvSpPr>
        <p:spPr>
          <a:xfrm>
            <a:off x="3638550" y="2028825"/>
            <a:ext cx="9906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D05E51-9903-4889-A6D5-6CFEA45A5313}"/>
              </a:ext>
            </a:extLst>
          </p:cNvPr>
          <p:cNvSpPr>
            <a:spLocks noGrp="1"/>
          </p:cNvSpPr>
          <p:nvPr/>
        </p:nvSpPr>
        <p:spPr>
          <a:xfrm>
            <a:off x="590550" y="2419350"/>
            <a:ext cx="1285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demand</a:t>
            </a:r>
          </a:p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&amp; basket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51F03E-74CF-40A0-AE7C-0D58695B9A32}"/>
              </a:ext>
            </a:extLst>
          </p:cNvPr>
          <p:cNvSpPr>
            <a:spLocks noGrp="1"/>
          </p:cNvSpPr>
          <p:nvPr/>
        </p:nvSpPr>
        <p:spPr>
          <a:xfrm>
            <a:off x="2590800" y="241935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discovery,</a:t>
            </a:r>
          </a:p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pricing, ads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9218A4-1715-4464-937A-AE52ED3AA77A}"/>
              </a:ext>
            </a:extLst>
          </p:cNvPr>
          <p:cNvSpPr>
            <a:spLocks noGrp="1"/>
          </p:cNvSpPr>
          <p:nvPr/>
        </p:nvSpPr>
        <p:spPr>
          <a:xfrm>
            <a:off x="4495800" y="2419350"/>
            <a:ext cx="161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pick, pack,</a:t>
            </a:r>
          </a:p>
          <a:p>
            <a:pPr algn="ctr">
              <a:defRPr sz="12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replenish</a:t>
            </a:r>
          </a:p>
        </p:txBody>
      </p:sp>
      <p:sp>
        <p:nvSpPr>
          <p:cNvPr id="34" name="Rectangle 33" descr="Low AOV -High Delivery Cost Dark Store Fixed Costs Limited Delivery Radius Need High Order Density">
            <a:extLst>
              <a:ext uri="{FF2B5EF4-FFF2-40B4-BE49-F238E27FC236}">
                <a16:creationId xmlns:a16="http://schemas.microsoft.com/office/drawing/2014/main" id="{272FDC35-BAAD-0AA8-6BC2-EE7CA8942E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90550" y="3219449"/>
            <a:ext cx="10863261" cy="9495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endParaRPr lang="en-IN" b="1" dirty="0"/>
          </a:p>
          <a:p>
            <a:r>
              <a:rPr lang="en-IN" b="1" dirty="0"/>
              <a:t>Why Quick Commerce is Challenging:</a:t>
            </a:r>
            <a:endParaRPr lang="en-IN" dirty="0"/>
          </a:p>
          <a:p>
            <a:r>
              <a:rPr lang="en-IN" dirty="0"/>
              <a:t>Low AOV → High Delivery Cost → Dark Store Fixed Costs → Limited Delivery Radius → Need High Order Density</a:t>
            </a:r>
          </a:p>
          <a:p>
            <a:pPr algn="ctr"/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7DD8AE-734B-8BEC-9DED-2AA43E9840C1}"/>
              </a:ext>
            </a:extLst>
          </p:cNvPr>
          <p:cNvSpPr txBox="1"/>
          <p:nvPr/>
        </p:nvSpPr>
        <p:spPr>
          <a:xfrm>
            <a:off x="590550" y="4581527"/>
            <a:ext cx="2762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Core Revenue : </a:t>
            </a:r>
            <a:r>
              <a:rPr lang="en-IN" sz="1400" dirty="0"/>
              <a:t>Product margin </a:t>
            </a:r>
          </a:p>
          <a:p>
            <a:r>
              <a:rPr lang="en-IN" sz="1400" dirty="0"/>
              <a:t>	      Platform fees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4FC0BA-EB98-A538-7E08-15920CD1F42B}"/>
              </a:ext>
            </a:extLst>
          </p:cNvPr>
          <p:cNvSpPr txBox="1"/>
          <p:nvPr/>
        </p:nvSpPr>
        <p:spPr>
          <a:xfrm>
            <a:off x="3352800" y="4581527"/>
            <a:ext cx="36480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High-margin Revenue: </a:t>
            </a:r>
            <a:r>
              <a:rPr lang="en-IN" sz="1400" dirty="0"/>
              <a:t>Advertising </a:t>
            </a:r>
          </a:p>
          <a:p>
            <a:r>
              <a:rPr lang="en-IN" sz="1400" dirty="0"/>
              <a:t>                                          Membership </a:t>
            </a:r>
          </a:p>
          <a:p>
            <a:r>
              <a:rPr lang="en-IN" sz="1400" dirty="0"/>
              <a:t>	                   Private-label products</a:t>
            </a:r>
          </a:p>
          <a:p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634B6A-DEC1-CB12-6DA6-0A0A0E134A10}"/>
              </a:ext>
            </a:extLst>
          </p:cNvPr>
          <p:cNvSpPr txBox="1"/>
          <p:nvPr/>
        </p:nvSpPr>
        <p:spPr>
          <a:xfrm>
            <a:off x="650082" y="6173628"/>
            <a:ext cx="10803729" cy="49244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/>
              <a:t>Key Insight:</a:t>
            </a:r>
            <a:r>
              <a:rPr lang="en-IN" sz="1400" dirty="0"/>
              <a:t> </a:t>
            </a:r>
            <a:r>
              <a:rPr lang="en-IN" sz="1400" dirty="0" err="1"/>
              <a:t>Blinkit's</a:t>
            </a:r>
            <a:r>
              <a:rPr lang="en-IN" sz="1400" dirty="0"/>
              <a:t> profitability depends more on improving the economics of each order than simply increasing the number of orders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2024642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726CF60-17C0-41AA-97FF-12C79869E937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D55BF9-44E9-43F2-A7B5-90446C540A5B}"/>
              </a:ext>
            </a:extLst>
          </p:cNvPr>
          <p:cNvSpPr>
            <a:spLocks noGrp="1"/>
          </p:cNvSpPr>
          <p:nvPr/>
        </p:nvSpPr>
        <p:spPr>
          <a:xfrm>
            <a:off x="457200" y="49530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100" b="1" dirty="0" err="1"/>
              <a:t>Blinkit's</a:t>
            </a:r>
            <a:r>
              <a:rPr lang="en-IN" sz="2100" b="1" dirty="0"/>
              <a:t> profitability is driven by three controllable levers</a:t>
            </a:r>
            <a:endParaRPr lang="en-IN" sz="21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BB9AF4-3CDC-4947-ADF9-89D3E02D8A4F}"/>
              </a:ext>
            </a:extLst>
          </p:cNvPr>
          <p:cNvSpPr>
            <a:spLocks noGrp="1"/>
          </p:cNvSpPr>
          <p:nvPr/>
        </p:nvSpPr>
        <p:spPr>
          <a:xfrm>
            <a:off x="11247967" y="64198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2DB1C2-76ED-4826-8F9F-A74D8291BF22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C33407-747D-490D-B67A-AE9837A2E8AF}"/>
              </a:ext>
            </a:extLst>
          </p:cNvPr>
          <p:cNvSpPr>
            <a:spLocks noGrp="1"/>
          </p:cNvSpPr>
          <p:nvPr/>
        </p:nvSpPr>
        <p:spPr>
          <a:xfrm>
            <a:off x="4762500" y="1581150"/>
            <a:ext cx="2667000" cy="590550"/>
          </a:xfrm>
          <a:prstGeom prst="roundRect">
            <a:avLst>
              <a:gd name="adj" fmla="val 19355"/>
            </a:avLst>
          </a:prstGeom>
          <a:solidFill>
            <a:srgbClr val="19212D"/>
          </a:solidFill>
          <a:ln w="9525">
            <a:solidFill>
              <a:srgbClr val="19212D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208023-A76B-4FB9-930C-C4AFAF941B31}"/>
              </a:ext>
            </a:extLst>
          </p:cNvPr>
          <p:cNvSpPr>
            <a:spLocks noGrp="1"/>
          </p:cNvSpPr>
          <p:nvPr/>
        </p:nvSpPr>
        <p:spPr>
          <a:xfrm>
            <a:off x="4953000" y="17145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6193" lnSpcReduction="20000"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Contribution margin / order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CA9625-515E-4FE6-B163-3E4059D051FC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D82A23-17EB-460A-B854-E8392345CEF8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1809750" cy="85725"/>
          </a:xfrm>
          <a:prstGeom prst="roundRect">
            <a:avLst>
              <a:gd name="adj" fmla="val 50000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43436-AFE7-421B-A42C-647127587855}"/>
              </a:ext>
            </a:extLst>
          </p:cNvPr>
          <p:cNvSpPr>
            <a:spLocks noGrp="1"/>
          </p:cNvSpPr>
          <p:nvPr/>
        </p:nvSpPr>
        <p:spPr>
          <a:xfrm>
            <a:off x="781050" y="30099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ORDERS</a:t>
            </a:r>
          </a:p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Density • repeat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0623EE-8D70-43C9-94FA-B737342A053A}"/>
              </a:ext>
            </a:extLst>
          </p:cNvPr>
          <p:cNvSpPr>
            <a:spLocks noGrp="1"/>
          </p:cNvSpPr>
          <p:nvPr/>
        </p:nvSpPr>
        <p:spPr>
          <a:xfrm>
            <a:off x="2762250" y="276225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951199-B693-417A-B270-4F47D1562C50}"/>
              </a:ext>
            </a:extLst>
          </p:cNvPr>
          <p:cNvSpPr>
            <a:spLocks noGrp="1"/>
          </p:cNvSpPr>
          <p:nvPr/>
        </p:nvSpPr>
        <p:spPr>
          <a:xfrm>
            <a:off x="2762250" y="2762250"/>
            <a:ext cx="1809750" cy="85725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9E9887-DB71-494A-AEF5-21D5DD609CBE}"/>
              </a:ext>
            </a:extLst>
          </p:cNvPr>
          <p:cNvSpPr>
            <a:spLocks noGrp="1"/>
          </p:cNvSpPr>
          <p:nvPr/>
        </p:nvSpPr>
        <p:spPr>
          <a:xfrm>
            <a:off x="2876550" y="30099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AOV</a:t>
            </a:r>
          </a:p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Basket size • mix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1AE897-7E7F-416D-BAED-966B748E97A7}"/>
              </a:ext>
            </a:extLst>
          </p:cNvPr>
          <p:cNvSpPr>
            <a:spLocks noGrp="1"/>
          </p:cNvSpPr>
          <p:nvPr/>
        </p:nvSpPr>
        <p:spPr>
          <a:xfrm>
            <a:off x="4857750" y="276225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AA05917-95C7-47FE-A4DF-18E13CDBF307}"/>
              </a:ext>
            </a:extLst>
          </p:cNvPr>
          <p:cNvSpPr>
            <a:spLocks noGrp="1"/>
          </p:cNvSpPr>
          <p:nvPr/>
        </p:nvSpPr>
        <p:spPr>
          <a:xfrm>
            <a:off x="4835525" y="2747962"/>
            <a:ext cx="1854200" cy="1143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159B16-DED9-4188-B72D-A145B063DDCD}"/>
              </a:ext>
            </a:extLst>
          </p:cNvPr>
          <p:cNvSpPr>
            <a:spLocks noGrp="1"/>
          </p:cNvSpPr>
          <p:nvPr/>
        </p:nvSpPr>
        <p:spPr>
          <a:xfrm>
            <a:off x="4972050" y="30099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/>
              <a:t>High-Margin Revenue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Ads • fees • Plus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483C5-0688-4F1F-BA6F-AB645564768A}"/>
              </a:ext>
            </a:extLst>
          </p:cNvPr>
          <p:cNvSpPr>
            <a:spLocks noGrp="1"/>
          </p:cNvSpPr>
          <p:nvPr/>
        </p:nvSpPr>
        <p:spPr>
          <a:xfrm>
            <a:off x="5762625" y="2171700"/>
            <a:ext cx="33337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3B1E9F7-4D2F-4713-9353-886CE0B76035}"/>
              </a:ext>
            </a:extLst>
          </p:cNvPr>
          <p:cNvSpPr>
            <a:spLocks noGrp="1"/>
          </p:cNvSpPr>
          <p:nvPr/>
        </p:nvSpPr>
        <p:spPr>
          <a:xfrm>
            <a:off x="6953250" y="276225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5EC4471-0986-4E96-B84F-600282ACAA62}"/>
              </a:ext>
            </a:extLst>
          </p:cNvPr>
          <p:cNvSpPr>
            <a:spLocks noGrp="1"/>
          </p:cNvSpPr>
          <p:nvPr/>
        </p:nvSpPr>
        <p:spPr>
          <a:xfrm>
            <a:off x="6953250" y="2762250"/>
            <a:ext cx="1809750" cy="85725"/>
          </a:xfrm>
          <a:prstGeom prst="roundRect">
            <a:avLst>
              <a:gd name="adj" fmla="val 50000"/>
            </a:avLst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15AB3D-7612-48CE-9D29-0C82BA027DC6}"/>
              </a:ext>
            </a:extLst>
          </p:cNvPr>
          <p:cNvSpPr>
            <a:spLocks noGrp="1"/>
          </p:cNvSpPr>
          <p:nvPr/>
        </p:nvSpPr>
        <p:spPr>
          <a:xfrm>
            <a:off x="7067550" y="30099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3815" lnSpcReduction="10000"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FULFILMENT</a:t>
            </a:r>
          </a:p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Store • shrink • labour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376B1C1-E54E-4D04-824B-5FD3DBC011C0}"/>
              </a:ext>
            </a:extLst>
          </p:cNvPr>
          <p:cNvSpPr>
            <a:spLocks noGrp="1"/>
          </p:cNvSpPr>
          <p:nvPr/>
        </p:nvSpPr>
        <p:spPr>
          <a:xfrm>
            <a:off x="9048750" y="2762250"/>
            <a:ext cx="1809750" cy="91440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5E77BBF-F9D4-4023-A6C7-495A3CA23AAF}"/>
              </a:ext>
            </a:extLst>
          </p:cNvPr>
          <p:cNvSpPr>
            <a:spLocks noGrp="1"/>
          </p:cNvSpPr>
          <p:nvPr/>
        </p:nvSpPr>
        <p:spPr>
          <a:xfrm>
            <a:off x="9048750" y="2762250"/>
            <a:ext cx="1809750" cy="85725"/>
          </a:xfrm>
          <a:prstGeom prst="roundRect">
            <a:avLst>
              <a:gd name="adj" fmla="val 50000"/>
            </a:avLst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6ED9FD-4337-4CB5-8BE4-E7A0A9B77F30}"/>
              </a:ext>
            </a:extLst>
          </p:cNvPr>
          <p:cNvSpPr>
            <a:spLocks noGrp="1"/>
          </p:cNvSpPr>
          <p:nvPr/>
        </p:nvSpPr>
        <p:spPr>
          <a:xfrm>
            <a:off x="9163050" y="3009900"/>
            <a:ext cx="1581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885" lnSpcReduction="10000"/>
          </a:bodyPr>
          <a:lstStyle/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LAST MILE</a:t>
            </a:r>
          </a:p>
          <a:p>
            <a:pPr algn="ctr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Rider • route • distance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D818FB-E158-4CC3-B40E-29144A94C8C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26C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493BCB-D3C5-49C4-97B8-A1D4225EA3CD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5048250" cy="19050"/>
          </a:xfrm>
          <a:prstGeom prst="rect">
            <a:avLst/>
          </a:prstGeom>
          <a:solidFill>
            <a:srgbClr val="16826C"/>
          </a:solidFill>
          <a:ln w="0">
            <a:solidFill>
              <a:srgbClr val="16826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0CDF24-C609-41E9-9F43-FACE1619A332}"/>
              </a:ext>
            </a:extLst>
          </p:cNvPr>
          <p:cNvSpPr>
            <a:spLocks noGrp="1"/>
          </p:cNvSpPr>
          <p:nvPr/>
        </p:nvSpPr>
        <p:spPr>
          <a:xfrm>
            <a:off x="661670" y="4572000"/>
            <a:ext cx="5048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Number of </a:t>
            </a: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Orders × AOV + commission / product margin + ads + membership + private-label margin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4255D8-16D4-41DD-998C-EDE1B09B752A}"/>
              </a:ext>
            </a:extLst>
          </p:cNvPr>
          <p:cNvSpPr>
            <a:spLocks noGrp="1"/>
          </p:cNvSpPr>
          <p:nvPr/>
        </p:nvSpPr>
        <p:spPr>
          <a:xfrm>
            <a:off x="6477000" y="40957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4A4A"/>
                </a:solidFill>
                <a:latin typeface="Arial"/>
                <a:ea typeface="Arial"/>
                <a:cs typeface="Arial"/>
              </a:rPr>
              <a:t>COSTS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5BE4AF-D40C-4AC3-B945-A95FBEE1AC1E}"/>
              </a:ext>
            </a:extLst>
          </p:cNvPr>
          <p:cNvSpPr>
            <a:spLocks noGrp="1"/>
          </p:cNvSpPr>
          <p:nvPr/>
        </p:nvSpPr>
        <p:spPr>
          <a:xfrm>
            <a:off x="6477000" y="4381500"/>
            <a:ext cx="4381500" cy="19050"/>
          </a:xfrm>
          <a:prstGeom prst="rect">
            <a:avLst/>
          </a:prstGeom>
          <a:solidFill>
            <a:srgbClr val="D94A4A"/>
          </a:solidFill>
          <a:ln w="0">
            <a:solidFill>
              <a:srgbClr val="D94A4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21FF232-6224-420F-A0A2-479502EF947B}"/>
              </a:ext>
            </a:extLst>
          </p:cNvPr>
          <p:cNvSpPr>
            <a:spLocks noGrp="1"/>
          </p:cNvSpPr>
          <p:nvPr/>
        </p:nvSpPr>
        <p:spPr>
          <a:xfrm>
            <a:off x="6477000" y="457200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Delivery + dark store + people + inventory loss + discounts + technology / marketing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76B81E-1AD5-48D2-8E2F-849D6E79DB8A}"/>
              </a:ext>
            </a:extLst>
          </p:cNvPr>
          <p:cNvSpPr>
            <a:spLocks noGrp="1"/>
          </p:cNvSpPr>
          <p:nvPr/>
        </p:nvSpPr>
        <p:spPr>
          <a:xfrm>
            <a:off x="3476625" y="5638800"/>
            <a:ext cx="5238750" cy="247650"/>
          </a:xfrm>
          <a:prstGeom prst="roundRect">
            <a:avLst>
              <a:gd name="adj" fmla="val 46154"/>
            </a:avLst>
          </a:prstGeom>
          <a:solidFill>
            <a:srgbClr val="19212D"/>
          </a:solidFill>
          <a:ln w="9525">
            <a:solidFill>
              <a:srgbClr val="19212D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951F6F-DBE7-409F-A2CA-0EC48BFA7AE6}"/>
              </a:ext>
            </a:extLst>
          </p:cNvPr>
          <p:cNvSpPr>
            <a:spLocks noGrp="1"/>
          </p:cNvSpPr>
          <p:nvPr/>
        </p:nvSpPr>
        <p:spPr>
          <a:xfrm>
            <a:off x="3571875" y="5667375"/>
            <a:ext cx="504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</a:t>
            </a:r>
            <a:r>
              <a:rPr lang="en-IN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</a:t>
            </a:r>
            <a:r>
              <a:rPr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LENS: </a:t>
            </a:r>
            <a:r>
              <a:rPr lang="en-IN"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</a:t>
            </a:r>
            <a:r>
              <a:rPr sz="90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ptimize</a:t>
            </a:r>
            <a:r>
              <a:rPr sz="9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CM/order before expanding capacity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109CC1-CDCA-EBBD-4637-2D57CA3C1886}"/>
              </a:ext>
            </a:extLst>
          </p:cNvPr>
          <p:cNvSpPr txBox="1"/>
          <p:nvPr/>
        </p:nvSpPr>
        <p:spPr>
          <a:xfrm>
            <a:off x="523875" y="6252746"/>
            <a:ext cx="10506075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Contribution Margin = Revenue per Order − Variable Cost per Order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482699F-3F49-E6B0-CB33-3443BB385562}"/>
              </a:ext>
            </a:extLst>
          </p:cNvPr>
          <p:cNvCxnSpPr>
            <a:cxnSpLocks/>
          </p:cNvCxnSpPr>
          <p:nvPr/>
        </p:nvCxnSpPr>
        <p:spPr>
          <a:xfrm>
            <a:off x="6096000" y="2181225"/>
            <a:ext cx="0" cy="581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98C8133-4B96-70A7-8C09-423834155BA6}"/>
              </a:ext>
            </a:extLst>
          </p:cNvPr>
          <p:cNvCxnSpPr>
            <a:cxnSpLocks/>
          </p:cNvCxnSpPr>
          <p:nvPr/>
        </p:nvCxnSpPr>
        <p:spPr>
          <a:xfrm flipH="1">
            <a:off x="3928533" y="2181225"/>
            <a:ext cx="2167467" cy="566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31EA2C5-EBD4-F68B-57A0-0A4ECB8B3751}"/>
              </a:ext>
            </a:extLst>
          </p:cNvPr>
          <p:cNvCxnSpPr>
            <a:stCxn id="19" idx="3"/>
          </p:cNvCxnSpPr>
          <p:nvPr/>
        </p:nvCxnSpPr>
        <p:spPr>
          <a:xfrm flipH="1">
            <a:off x="1964267" y="2181225"/>
            <a:ext cx="4131733" cy="566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296DA1E-6BDC-139E-5EF8-AB697BB87FA9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096000" y="2181225"/>
            <a:ext cx="1762125" cy="581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1D5ED1F-1812-5B41-6B64-7DCCF8094F6B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096000" y="2181225"/>
            <a:ext cx="3857625" cy="581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0DB38EB-EBFF-51F4-7016-6BF00487DD64}"/>
              </a:ext>
            </a:extLst>
          </p:cNvPr>
          <p:cNvSpPr txBox="1"/>
          <p:nvPr/>
        </p:nvSpPr>
        <p:spPr>
          <a:xfrm>
            <a:off x="340822" y="981075"/>
            <a:ext cx="10655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Improving profitability requires increasing revenue per order while reducing the cost to serve each order</a:t>
            </a:r>
            <a:endParaRPr 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ea typeface="Arial"/>
              <a:cs typeface="Arial"/>
            </a:endParaRP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5954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46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5353942-D9D8-47F6-9077-B960545B199E}"/>
              </a:ext>
            </a:extLst>
          </p:cNvPr>
          <p:cNvSpPr>
            <a:spLocks noGrp="1"/>
          </p:cNvSpPr>
          <p:nvPr/>
        </p:nvSpPr>
        <p:spPr>
          <a:xfrm>
            <a:off x="372533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28B391-CC17-45E4-AC45-E740BD51B67E}"/>
              </a:ext>
            </a:extLst>
          </p:cNvPr>
          <p:cNvSpPr>
            <a:spLocks noGrp="1"/>
          </p:cNvSpPr>
          <p:nvPr/>
        </p:nvSpPr>
        <p:spPr>
          <a:xfrm>
            <a:off x="372533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336"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/>
              <a:t>Fulfilment Efficiency Is the Biggest Driver of Cost Optimisation</a:t>
            </a: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2FB7DD-0DE8-4C3E-A107-67BC492A79E8}"/>
              </a:ext>
            </a:extLst>
          </p:cNvPr>
          <p:cNvSpPr>
            <a:spLocks noGrp="1"/>
          </p:cNvSpPr>
          <p:nvPr/>
        </p:nvSpPr>
        <p:spPr>
          <a:xfrm>
            <a:off x="372533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Illustrative cost stack per order - designed as a diagnostic, not a reported P&amp;L.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C29EC7-A831-4A35-9F25-D1F8CB7F0800}"/>
              </a:ext>
            </a:extLst>
          </p:cNvPr>
          <p:cNvSpPr>
            <a:spLocks noGrp="1"/>
          </p:cNvSpPr>
          <p:nvPr/>
        </p:nvSpPr>
        <p:spPr>
          <a:xfrm>
            <a:off x="11154834" y="6419850"/>
            <a:ext cx="419100" cy="1619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2BEA84-1E6F-4747-AEA6-3201D58B1B07}"/>
              </a:ext>
            </a:extLst>
          </p:cNvPr>
          <p:cNvSpPr>
            <a:spLocks noGrp="1"/>
          </p:cNvSpPr>
          <p:nvPr/>
        </p:nvSpPr>
        <p:spPr>
          <a:xfrm>
            <a:off x="372533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7EFFD4-1EB6-4423-B014-E1B841F7A915}"/>
              </a:ext>
            </a:extLst>
          </p:cNvPr>
          <p:cNvSpPr>
            <a:spLocks noGrp="1"/>
          </p:cNvSpPr>
          <p:nvPr/>
        </p:nvSpPr>
        <p:spPr>
          <a:xfrm>
            <a:off x="534458" y="2428875"/>
            <a:ext cx="3838575" cy="952500"/>
          </a:xfrm>
          <a:prstGeom prst="roundRect">
            <a:avLst>
              <a:gd name="adj" fmla="val 12000"/>
            </a:avLst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E148F2-6A85-40B8-BDBB-1915F779810E}"/>
              </a:ext>
            </a:extLst>
          </p:cNvPr>
          <p:cNvSpPr>
            <a:spLocks noGrp="1"/>
          </p:cNvSpPr>
          <p:nvPr/>
        </p:nvSpPr>
        <p:spPr>
          <a:xfrm>
            <a:off x="534458" y="2600325"/>
            <a:ext cx="38385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5C2C3F-5406-4396-87A3-4B565A22D7FE}"/>
              </a:ext>
            </a:extLst>
          </p:cNvPr>
          <p:cNvSpPr>
            <a:spLocks noGrp="1"/>
          </p:cNvSpPr>
          <p:nvPr/>
        </p:nvSpPr>
        <p:spPr>
          <a:xfrm>
            <a:off x="534458" y="3543300"/>
            <a:ext cx="38385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Delivery</a:t>
            </a:r>
            <a:endParaRPr lang="en-IN"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</a:t>
            </a:r>
            <a:r>
              <a:rPr lang="en-IN" sz="1050" b="1" dirty="0"/>
              <a:t>Very High</a:t>
            </a: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)</a:t>
            </a:r>
            <a:endParaRPr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526AF5-E822-4C4F-8A4D-F92AAFB07458}"/>
              </a:ext>
            </a:extLst>
          </p:cNvPr>
          <p:cNvSpPr>
            <a:spLocks noGrp="1"/>
          </p:cNvSpPr>
          <p:nvPr/>
        </p:nvSpPr>
        <p:spPr>
          <a:xfrm>
            <a:off x="4825470" y="2413808"/>
            <a:ext cx="2228850" cy="952500"/>
          </a:xfrm>
          <a:prstGeom prst="roundRect">
            <a:avLst>
              <a:gd name="adj" fmla="val 12000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1CF51C-B59C-42DF-9BF1-9BE463191568}"/>
              </a:ext>
            </a:extLst>
          </p:cNvPr>
          <p:cNvSpPr>
            <a:spLocks noGrp="1"/>
          </p:cNvSpPr>
          <p:nvPr/>
        </p:nvSpPr>
        <p:spPr>
          <a:xfrm>
            <a:off x="4449233" y="2600325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3802D4-38A4-4EFF-A582-9479B5456BA5}"/>
              </a:ext>
            </a:extLst>
          </p:cNvPr>
          <p:cNvSpPr>
            <a:spLocks noGrp="1"/>
          </p:cNvSpPr>
          <p:nvPr/>
        </p:nvSpPr>
        <p:spPr>
          <a:xfrm>
            <a:off x="4820708" y="3537758"/>
            <a:ext cx="2228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Dark store </a:t>
            </a:r>
            <a:r>
              <a:rPr sz="105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labour</a:t>
            </a: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+ rent</a:t>
            </a:r>
            <a:endParaRPr lang="en-IN"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(High)</a:t>
            </a:r>
            <a:endParaRPr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AB471AA-B906-40CB-B724-BA0E1FCBE91E}"/>
              </a:ext>
            </a:extLst>
          </p:cNvPr>
          <p:cNvSpPr>
            <a:spLocks noGrp="1"/>
          </p:cNvSpPr>
          <p:nvPr/>
        </p:nvSpPr>
        <p:spPr>
          <a:xfrm>
            <a:off x="7611533" y="2428875"/>
            <a:ext cx="1485900" cy="952500"/>
          </a:xfrm>
          <a:prstGeom prst="roundRect">
            <a:avLst>
              <a:gd name="adj" fmla="val 12000"/>
            </a:avLst>
          </a:prstGeom>
          <a:solidFill>
            <a:srgbClr val="FFCC00"/>
          </a:solidFill>
          <a:ln w="9525">
            <a:solidFill>
              <a:srgbClr val="FFCC00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CD71DA-7BC9-4B45-A664-C154168B0444}"/>
              </a:ext>
            </a:extLst>
          </p:cNvPr>
          <p:cNvSpPr>
            <a:spLocks noGrp="1"/>
          </p:cNvSpPr>
          <p:nvPr/>
        </p:nvSpPr>
        <p:spPr>
          <a:xfrm>
            <a:off x="6754283" y="2600325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9C13E-30B4-47AD-8126-FBF97A5B9C06}"/>
              </a:ext>
            </a:extLst>
          </p:cNvPr>
          <p:cNvSpPr>
            <a:spLocks noGrp="1"/>
          </p:cNvSpPr>
          <p:nvPr/>
        </p:nvSpPr>
        <p:spPr>
          <a:xfrm>
            <a:off x="7611533" y="3537671"/>
            <a:ext cx="1485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Discounts / promos</a:t>
            </a:r>
            <a:endParaRPr lang="en-IN"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(Medium)</a:t>
            </a:r>
            <a:endParaRPr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1E676D-4162-4697-A574-4AAAFD43AD88}"/>
              </a:ext>
            </a:extLst>
          </p:cNvPr>
          <p:cNvSpPr>
            <a:spLocks noGrp="1"/>
          </p:cNvSpPr>
          <p:nvPr/>
        </p:nvSpPr>
        <p:spPr>
          <a:xfrm>
            <a:off x="9654646" y="2403937"/>
            <a:ext cx="742950" cy="952500"/>
          </a:xfrm>
          <a:prstGeom prst="roundRect">
            <a:avLst>
              <a:gd name="adj" fmla="val 15385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23525E-684A-4B7D-8F96-BAE20F6BCE1C}"/>
              </a:ext>
            </a:extLst>
          </p:cNvPr>
          <p:cNvSpPr>
            <a:spLocks noGrp="1"/>
          </p:cNvSpPr>
          <p:nvPr/>
        </p:nvSpPr>
        <p:spPr>
          <a:xfrm>
            <a:off x="8316383" y="2600325"/>
            <a:ext cx="74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BFEB1A-1919-442C-9BF8-812DA90DBE63}"/>
              </a:ext>
            </a:extLst>
          </p:cNvPr>
          <p:cNvSpPr>
            <a:spLocks noGrp="1"/>
          </p:cNvSpPr>
          <p:nvPr/>
        </p:nvSpPr>
        <p:spPr>
          <a:xfrm>
            <a:off x="9503304" y="3534495"/>
            <a:ext cx="97102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Inventory loss &amp; wastage</a:t>
            </a:r>
            <a:endParaRPr lang="en-IN"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(Low)</a:t>
            </a:r>
            <a:endParaRPr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D82119-EF1C-4E96-AF40-C291AE6F0DD5}"/>
              </a:ext>
            </a:extLst>
          </p:cNvPr>
          <p:cNvSpPr>
            <a:spLocks noGrp="1"/>
          </p:cNvSpPr>
          <p:nvPr/>
        </p:nvSpPr>
        <p:spPr>
          <a:xfrm>
            <a:off x="10845271" y="2409825"/>
            <a:ext cx="619125" cy="952500"/>
          </a:xfrm>
          <a:prstGeom prst="roundRect">
            <a:avLst>
              <a:gd name="adj" fmla="val 18462"/>
            </a:avLst>
          </a:prstGeom>
          <a:solidFill>
            <a:srgbClr val="5B6472"/>
          </a:solidFill>
          <a:ln w="9525">
            <a:solidFill>
              <a:srgbClr val="5B6472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8739C0-3AE4-4548-A0D9-3895AFCB4C93}"/>
              </a:ext>
            </a:extLst>
          </p:cNvPr>
          <p:cNvSpPr>
            <a:spLocks noGrp="1"/>
          </p:cNvSpPr>
          <p:nvPr/>
        </p:nvSpPr>
        <p:spPr>
          <a:xfrm>
            <a:off x="9135533" y="260032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AB2549-85D5-418A-AFFB-C6446691C696}"/>
              </a:ext>
            </a:extLst>
          </p:cNvPr>
          <p:cNvSpPr>
            <a:spLocks noGrp="1"/>
          </p:cNvSpPr>
          <p:nvPr/>
        </p:nvSpPr>
        <p:spPr>
          <a:xfrm>
            <a:off x="10845271" y="3538279"/>
            <a:ext cx="61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000" lnSpcReduction="20000"/>
          </a:bodyPr>
          <a:lstStyle/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Tech +</a:t>
            </a: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support</a:t>
            </a:r>
            <a:endParaRPr lang="en-IN"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(Low)</a:t>
            </a:r>
          </a:p>
          <a:p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05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CA8BAB-68C9-4DE4-8D17-198E71C41B17}"/>
              </a:ext>
            </a:extLst>
          </p:cNvPr>
          <p:cNvSpPr>
            <a:spLocks noGrp="1"/>
          </p:cNvSpPr>
          <p:nvPr/>
        </p:nvSpPr>
        <p:spPr>
          <a:xfrm>
            <a:off x="601132" y="1640135"/>
            <a:ext cx="3115733" cy="712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00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Illustrative cost-to-serve</a:t>
            </a:r>
            <a:r>
              <a:rPr lang="en-IN" sz="1400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model</a:t>
            </a:r>
          </a:p>
          <a:p>
            <a:pPr algn="l"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lang="en-IN" sz="12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  <a:p>
            <a:pPr>
              <a:defRPr sz="120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00" dirty="0"/>
              <a:t>Estimated Variable Cost per Order</a:t>
            </a:r>
            <a:endParaRPr sz="1100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F2DA5F-7141-43E0-8CB0-4D1EB45DBE26}"/>
              </a:ext>
            </a:extLst>
          </p:cNvPr>
          <p:cNvSpPr>
            <a:spLocks noGrp="1"/>
          </p:cNvSpPr>
          <p:nvPr/>
        </p:nvSpPr>
        <p:spPr>
          <a:xfrm>
            <a:off x="346929" y="3943350"/>
            <a:ext cx="3090862" cy="2170321"/>
          </a:xfrm>
          <a:prstGeom prst="roundRect">
            <a:avLst>
              <a:gd name="adj" fmla="val 17450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E78AD6-D941-4DFB-9A45-7305E7A56E59}"/>
              </a:ext>
            </a:extLst>
          </p:cNvPr>
          <p:cNvSpPr>
            <a:spLocks noGrp="1"/>
          </p:cNvSpPr>
          <p:nvPr/>
        </p:nvSpPr>
        <p:spPr>
          <a:xfrm>
            <a:off x="438356" y="4091328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3037" lnSpcReduction="10000"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Cost levers with biggest sensitivity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D203BC-0EAF-421D-A006-70A5FAA9CECB}"/>
              </a:ext>
            </a:extLst>
          </p:cNvPr>
          <p:cNvSpPr>
            <a:spLocks noGrp="1"/>
          </p:cNvSpPr>
          <p:nvPr/>
        </p:nvSpPr>
        <p:spPr>
          <a:xfrm>
            <a:off x="430948" y="433521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Orders per rider / hour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328982-A3DD-4C9E-99CB-8A0AE288BB01}"/>
              </a:ext>
            </a:extLst>
          </p:cNvPr>
          <p:cNvSpPr>
            <a:spLocks noGrp="1"/>
          </p:cNvSpPr>
          <p:nvPr/>
        </p:nvSpPr>
        <p:spPr>
          <a:xfrm>
            <a:off x="430948" y="4579102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Increase orders per rider through batching and route optimisation.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804B29-C976-4944-8E4B-02B64B72FE34}"/>
              </a:ext>
            </a:extLst>
          </p:cNvPr>
          <p:cNvSpPr>
            <a:spLocks noGrp="1"/>
          </p:cNvSpPr>
          <p:nvPr/>
        </p:nvSpPr>
        <p:spPr>
          <a:xfrm>
            <a:off x="446822" y="4937289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r>
              <a:rPr lang="en-IN" sz="1400" b="1" dirty="0"/>
              <a:t>2. Dark Store Utilisation</a:t>
            </a:r>
            <a:endParaRPr lang="en-IN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CE3F3A-5876-479D-87AA-E078250EED50}"/>
              </a:ext>
            </a:extLst>
          </p:cNvPr>
          <p:cNvSpPr>
            <a:spLocks noGrp="1"/>
          </p:cNvSpPr>
          <p:nvPr/>
        </p:nvSpPr>
        <p:spPr>
          <a:xfrm>
            <a:off x="438356" y="5161338"/>
            <a:ext cx="2762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Improve picking efficiency and order density.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67BFB1C-22DD-4D55-9043-FA5A0E6B952D}"/>
              </a:ext>
            </a:extLst>
          </p:cNvPr>
          <p:cNvSpPr>
            <a:spLocks noGrp="1"/>
          </p:cNvSpPr>
          <p:nvPr/>
        </p:nvSpPr>
        <p:spPr>
          <a:xfrm>
            <a:off x="446822" y="5477042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Discount </a:t>
            </a:r>
            <a:r>
              <a:rPr lang="en-IN" sz="12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Discipline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859AC0-45BE-48BF-B1AB-E819FE7DE0E1}"/>
              </a:ext>
            </a:extLst>
          </p:cNvPr>
          <p:cNvSpPr>
            <a:spLocks noGrp="1"/>
          </p:cNvSpPr>
          <p:nvPr/>
        </p:nvSpPr>
        <p:spPr>
          <a:xfrm>
            <a:off x="446822" y="5735302"/>
            <a:ext cx="2797142" cy="2573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 lnSpcReduction="20000"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Replace blanket discounts with targeted promotions.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C704E2E-52DF-4538-BDF9-EC5DBB1DF0BD}"/>
              </a:ext>
            </a:extLst>
          </p:cNvPr>
          <p:cNvSpPr>
            <a:spLocks noGrp="1"/>
          </p:cNvSpPr>
          <p:nvPr/>
        </p:nvSpPr>
        <p:spPr>
          <a:xfrm>
            <a:off x="372533" y="6319157"/>
            <a:ext cx="1466850" cy="319768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 w="9525">
            <a:solidFill>
              <a:srgbClr val="FFCC00"/>
            </a:solidFill>
            <a:prstDash val="solid"/>
          </a:ln>
        </p:spPr>
        <p:txBody>
          <a:bodyPr/>
          <a:lstStyle/>
          <a:p>
            <a:pPr algn="ctr"/>
            <a:r>
              <a:rPr lang="en-IN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ASSUMPTION</a:t>
            </a:r>
          </a:p>
          <a:p>
            <a:pPr algn="ctr"/>
            <a:endParaRPr lang="en-IN" sz="12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8EF44B-3BA4-4C96-863C-EA2F82E33413}"/>
              </a:ext>
            </a:extLst>
          </p:cNvPr>
          <p:cNvSpPr>
            <a:spLocks noGrp="1"/>
          </p:cNvSpPr>
          <p:nvPr/>
        </p:nvSpPr>
        <p:spPr>
          <a:xfrm>
            <a:off x="696383" y="5476875"/>
            <a:ext cx="9334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7EFDF15-D762-4B29-91A1-D63C91C9C7DE}"/>
              </a:ext>
            </a:extLst>
          </p:cNvPr>
          <p:cNvSpPr>
            <a:spLocks noGrp="1"/>
          </p:cNvSpPr>
          <p:nvPr/>
        </p:nvSpPr>
        <p:spPr>
          <a:xfrm>
            <a:off x="1941841" y="6372225"/>
            <a:ext cx="837479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Cost allocation is illustrative and based on public disclosures and reasonable operating assumptions.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11A5E77-872C-7678-E8CD-B10A84E9056E}"/>
              </a:ext>
            </a:extLst>
          </p:cNvPr>
          <p:cNvSpPr txBox="1"/>
          <p:nvPr/>
        </p:nvSpPr>
        <p:spPr>
          <a:xfrm>
            <a:off x="3711574" y="4335215"/>
            <a:ext cx="4599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Delivery and dark-store operations account for the largest share of fulfilment costs, making utilisation the highest-priority optimisation lever.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A6978AE-2A97-6A48-69B7-2629218992D0}"/>
              </a:ext>
            </a:extLst>
          </p:cNvPr>
          <p:cNvSpPr>
            <a:spLocks noGrp="1"/>
          </p:cNvSpPr>
          <p:nvPr/>
        </p:nvSpPr>
        <p:spPr>
          <a:xfrm>
            <a:off x="8754211" y="3943349"/>
            <a:ext cx="3090860" cy="2170321"/>
          </a:xfrm>
          <a:prstGeom prst="roundRect">
            <a:avLst>
              <a:gd name="adj" fmla="val 19349"/>
            </a:avLst>
          </a:prstGeom>
          <a:solidFill>
            <a:srgbClr val="F5F7FA"/>
          </a:solidFill>
          <a:ln w="9525">
            <a:solidFill>
              <a:srgbClr val="F5F7FA"/>
            </a:solidFill>
            <a:prstDash val="solid"/>
          </a:ln>
        </p:spPr>
        <p:txBody>
          <a:bodyPr/>
          <a:lstStyle/>
          <a:p>
            <a:r>
              <a:rPr lang="en-IN" sz="1400" b="1" dirty="0"/>
              <a:t>Cost Optimisation Mechanism:</a:t>
            </a:r>
            <a:endParaRPr lang="en-US" sz="1400" b="1" dirty="0"/>
          </a:p>
          <a:p>
            <a:r>
              <a:rPr lang="en-US" sz="1400" dirty="0"/>
              <a:t>Higher Order Density</a:t>
            </a:r>
          </a:p>
          <a:p>
            <a:r>
              <a:rPr lang="en-US" sz="1600" dirty="0"/>
              <a:t>↓</a:t>
            </a:r>
          </a:p>
          <a:p>
            <a:r>
              <a:rPr lang="en-US" sz="1400" dirty="0"/>
              <a:t>More Orders per Rider</a:t>
            </a:r>
          </a:p>
          <a:p>
            <a:r>
              <a:rPr lang="en-US" sz="1600" dirty="0"/>
              <a:t>↓</a:t>
            </a:r>
          </a:p>
          <a:p>
            <a:r>
              <a:rPr lang="en-US" sz="1400" dirty="0"/>
              <a:t>Lower Delivery Cost per Order</a:t>
            </a:r>
          </a:p>
          <a:p>
            <a:r>
              <a:rPr lang="en-US" sz="1600" dirty="0"/>
              <a:t>↓</a:t>
            </a:r>
          </a:p>
          <a:p>
            <a:r>
              <a:rPr lang="en-US" sz="1400" dirty="0"/>
              <a:t>Higher Contribution Margin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97750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24C314C-8C3F-464E-BEF8-5654F1BB5D0B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BBEBE9-4BD4-42F0-99CF-D9AF695391B9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514"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/>
              <a:t>Three Root Causes Are Limiting </a:t>
            </a:r>
            <a:r>
              <a:rPr lang="en-IN" sz="2400" b="1" dirty="0" err="1"/>
              <a:t>Blinkit's</a:t>
            </a:r>
            <a:r>
              <a:rPr lang="en-IN" sz="2400" b="1" dirty="0"/>
              <a:t> Profitability</a:t>
            </a: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980A26-AA87-4E50-B713-89931120BDEB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A MECE diagnosis across demand, fulfilment and monetisation identifies the primary drivers of weak contribution margins.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8AB81-8126-409A-B8B1-4EBA12E4BCD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1C2FC4-E212-4AE2-A2F2-D13D043CBBB6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143250" cy="2286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57AF2EF-658D-460E-896A-FE4AD14AAF5D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3143250" cy="8572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52D8D3-9EC5-47E8-B11E-B6AC79572B06}"/>
              </a:ext>
            </a:extLst>
          </p:cNvPr>
          <p:cNvSpPr>
            <a:spLocks noGrp="1"/>
          </p:cNvSpPr>
          <p:nvPr/>
        </p:nvSpPr>
        <p:spPr>
          <a:xfrm>
            <a:off x="857250" y="2295525"/>
            <a:ext cx="2714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1. Demand economics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367CF-205A-4108-ABF2-6AD400648CBB}"/>
              </a:ext>
            </a:extLst>
          </p:cNvPr>
          <p:cNvSpPr>
            <a:spLocks noGrp="1"/>
          </p:cNvSpPr>
          <p:nvPr/>
        </p:nvSpPr>
        <p:spPr>
          <a:xfrm>
            <a:off x="857250" y="2790825"/>
            <a:ext cx="2714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Low Average Order Value (AOV)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Promotion-dependent purchases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Weak repeat purchases in newer zones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DE3FB8-B8A8-4125-8A86-1B03B160AB0B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2286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8A845A-04D3-4D15-9AAD-96F240295040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3143250" cy="8572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9525"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51A399-6C7F-4ACC-B5D4-E957319A6A4F}"/>
              </a:ext>
            </a:extLst>
          </p:cNvPr>
          <p:cNvSpPr>
            <a:spLocks noGrp="1"/>
          </p:cNvSpPr>
          <p:nvPr/>
        </p:nvSpPr>
        <p:spPr>
          <a:xfrm>
            <a:off x="4714875" y="2295525"/>
            <a:ext cx="2714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2. Fulfilment economics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179EFD-820A-4ED1-9578-45EECD2B5A6C}"/>
              </a:ext>
            </a:extLst>
          </p:cNvPr>
          <p:cNvSpPr>
            <a:spLocks noGrp="1"/>
          </p:cNvSpPr>
          <p:nvPr/>
        </p:nvSpPr>
        <p:spPr>
          <a:xfrm>
            <a:off x="4714875" y="2835473"/>
            <a:ext cx="2714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New dark stores operating below capacity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Low rider utilisation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Longer delivery routes in low-density areas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A1A2F6A-DBB3-4AC8-A635-F8F9F5927709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3143250" cy="2286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A99B50-FB03-4CD0-8A79-871910D96EE2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3143250" cy="8572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 w="9525"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1D37E7-BDE3-4D8B-8577-D2B30A9EE657}"/>
              </a:ext>
            </a:extLst>
          </p:cNvPr>
          <p:cNvSpPr>
            <a:spLocks noGrp="1"/>
          </p:cNvSpPr>
          <p:nvPr/>
        </p:nvSpPr>
        <p:spPr>
          <a:xfrm>
            <a:off x="8572500" y="2295525"/>
            <a:ext cx="2714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3. Monetisation gap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4B96A2-61F1-4605-8284-E62A396FF95A}"/>
              </a:ext>
            </a:extLst>
          </p:cNvPr>
          <p:cNvSpPr>
            <a:spLocks noGrp="1"/>
          </p:cNvSpPr>
          <p:nvPr/>
        </p:nvSpPr>
        <p:spPr>
          <a:xfrm>
            <a:off x="8572500" y="2790825"/>
            <a:ext cx="2714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Low private-label adoption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Underutilised advertising revenue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sz="1400" dirty="0"/>
              <a:t>Membership benefits not fully optimised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4F727D-4257-4697-A97F-F1EAEFC1E82D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425" b="1" dirty="0"/>
              <a:t>Illustrative Profitability Chain</a:t>
            </a:r>
            <a:endParaRPr sz="142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370E08-BC4C-4C54-8F4E-D64CC30DBD7F}"/>
              </a:ext>
            </a:extLst>
          </p:cNvPr>
          <p:cNvSpPr>
            <a:spLocks noGrp="1"/>
          </p:cNvSpPr>
          <p:nvPr/>
        </p:nvSpPr>
        <p:spPr>
          <a:xfrm flipH="1">
            <a:off x="857249" y="5476875"/>
            <a:ext cx="206779" cy="190500"/>
          </a:xfrm>
          <a:prstGeom prst="ellipse">
            <a:avLst/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780F3C-8005-4B26-9E3E-4F6726FEB0B7}"/>
              </a:ext>
            </a:extLst>
          </p:cNvPr>
          <p:cNvSpPr>
            <a:spLocks noGrp="1"/>
          </p:cNvSpPr>
          <p:nvPr/>
        </p:nvSpPr>
        <p:spPr>
          <a:xfrm>
            <a:off x="933450" y="54102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    </a:t>
            </a: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Small basket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CFD763-4170-44E0-9259-2C15CDA0B63E}"/>
              </a:ext>
            </a:extLst>
          </p:cNvPr>
          <p:cNvSpPr>
            <a:spLocks noGrp="1"/>
          </p:cNvSpPr>
          <p:nvPr/>
        </p:nvSpPr>
        <p:spPr>
          <a:xfrm>
            <a:off x="2235430" y="5545456"/>
            <a:ext cx="450619" cy="45719"/>
          </a:xfrm>
          <a:prstGeom prst="rect">
            <a:avLst/>
          </a:prstGeom>
          <a:solidFill>
            <a:srgbClr val="5B6472"/>
          </a:solidFill>
          <a:ln w="0">
            <a:solidFill>
              <a:srgbClr val="5B6472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D96E7E3-F282-4B6B-904F-D0B6DF85A6A0}"/>
              </a:ext>
            </a:extLst>
          </p:cNvPr>
          <p:cNvSpPr>
            <a:spLocks noGrp="1"/>
          </p:cNvSpPr>
          <p:nvPr/>
        </p:nvSpPr>
        <p:spPr>
          <a:xfrm>
            <a:off x="2686050" y="5476875"/>
            <a:ext cx="190500" cy="190500"/>
          </a:xfrm>
          <a:prstGeom prst="ellipse">
            <a:avLst/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5850BC8-81DA-497A-AE8F-BF770E43B120}"/>
              </a:ext>
            </a:extLst>
          </p:cNvPr>
          <p:cNvSpPr>
            <a:spLocks noGrp="1"/>
          </p:cNvSpPr>
          <p:nvPr/>
        </p:nvSpPr>
        <p:spPr>
          <a:xfrm>
            <a:off x="2952750" y="54102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1146" lnSpcReduction="10000"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Fixed pick + delivery cost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C18F08-2CC1-43ED-B6C0-D3207969FCCC}"/>
              </a:ext>
            </a:extLst>
          </p:cNvPr>
          <p:cNvSpPr>
            <a:spLocks noGrp="1"/>
          </p:cNvSpPr>
          <p:nvPr/>
        </p:nvSpPr>
        <p:spPr>
          <a:xfrm>
            <a:off x="4330931" y="5545456"/>
            <a:ext cx="374419" cy="45719"/>
          </a:xfrm>
          <a:prstGeom prst="rect">
            <a:avLst/>
          </a:prstGeom>
          <a:solidFill>
            <a:srgbClr val="5B6472"/>
          </a:solidFill>
          <a:ln w="0">
            <a:solidFill>
              <a:srgbClr val="5B6472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0B3DF0E-A2A8-46B9-AF63-0872C4815784}"/>
              </a:ext>
            </a:extLst>
          </p:cNvPr>
          <p:cNvSpPr>
            <a:spLocks noGrp="1"/>
          </p:cNvSpPr>
          <p:nvPr/>
        </p:nvSpPr>
        <p:spPr>
          <a:xfrm>
            <a:off x="4705350" y="5476875"/>
            <a:ext cx="190500" cy="190500"/>
          </a:xfrm>
          <a:prstGeom prst="ellipse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16453A-9B9B-4785-9815-0799E040D3CD}"/>
              </a:ext>
            </a:extLst>
          </p:cNvPr>
          <p:cNvSpPr>
            <a:spLocks noGrp="1"/>
          </p:cNvSpPr>
          <p:nvPr/>
        </p:nvSpPr>
        <p:spPr>
          <a:xfrm>
            <a:off x="4972050" y="54102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Heavy Discounting 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7FBF0F-DB05-46DB-8701-D102019B95E0}"/>
              </a:ext>
            </a:extLst>
          </p:cNvPr>
          <p:cNvSpPr>
            <a:spLocks noGrp="1"/>
          </p:cNvSpPr>
          <p:nvPr/>
        </p:nvSpPr>
        <p:spPr>
          <a:xfrm>
            <a:off x="6419850" y="5545456"/>
            <a:ext cx="304800" cy="45719"/>
          </a:xfrm>
          <a:prstGeom prst="rect">
            <a:avLst/>
          </a:prstGeom>
          <a:solidFill>
            <a:srgbClr val="5B6472"/>
          </a:solidFill>
          <a:ln w="0">
            <a:solidFill>
              <a:srgbClr val="5B6472"/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F90903-13A9-41CB-89B7-2D37197DD109}"/>
              </a:ext>
            </a:extLst>
          </p:cNvPr>
          <p:cNvSpPr>
            <a:spLocks noGrp="1"/>
          </p:cNvSpPr>
          <p:nvPr/>
        </p:nvSpPr>
        <p:spPr>
          <a:xfrm>
            <a:off x="6724650" y="5476875"/>
            <a:ext cx="190500" cy="190500"/>
          </a:xfrm>
          <a:prstGeom prst="ellipse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8930F7-9D48-45DD-BDCC-7E4118B18E0D}"/>
              </a:ext>
            </a:extLst>
          </p:cNvPr>
          <p:cNvSpPr>
            <a:spLocks noGrp="1"/>
          </p:cNvSpPr>
          <p:nvPr/>
        </p:nvSpPr>
        <p:spPr>
          <a:xfrm>
            <a:off x="6991350" y="54102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4559" lnSpcReduction="10000"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Limited High-Margin Revenue 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9A4BE0-69F1-4445-87C9-59BBCF7BFB19}"/>
              </a:ext>
            </a:extLst>
          </p:cNvPr>
          <p:cNvSpPr>
            <a:spLocks noGrp="1"/>
          </p:cNvSpPr>
          <p:nvPr/>
        </p:nvSpPr>
        <p:spPr>
          <a:xfrm>
            <a:off x="8454044" y="5545456"/>
            <a:ext cx="289906" cy="45719"/>
          </a:xfrm>
          <a:prstGeom prst="rect">
            <a:avLst/>
          </a:prstGeom>
          <a:solidFill>
            <a:srgbClr val="5B6472"/>
          </a:solidFill>
          <a:ln w="0">
            <a:solidFill>
              <a:srgbClr val="5B6472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08BAB70-8180-4E9E-9A74-E684D3C5082B}"/>
              </a:ext>
            </a:extLst>
          </p:cNvPr>
          <p:cNvSpPr>
            <a:spLocks noGrp="1"/>
          </p:cNvSpPr>
          <p:nvPr/>
        </p:nvSpPr>
        <p:spPr>
          <a:xfrm>
            <a:off x="8743950" y="5476875"/>
            <a:ext cx="190500" cy="190500"/>
          </a:xfrm>
          <a:prstGeom prst="ellipse">
            <a:avLst/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C5B3E1-522B-4EF3-98AD-E39BD50D8D5A}"/>
              </a:ext>
            </a:extLst>
          </p:cNvPr>
          <p:cNvSpPr>
            <a:spLocks noGrp="1"/>
          </p:cNvSpPr>
          <p:nvPr/>
        </p:nvSpPr>
        <p:spPr>
          <a:xfrm>
            <a:off x="9017668" y="5410200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/>
              <a:t>Weak Contribution Margin</a:t>
            </a: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E33A9A-0580-D5F9-742A-7C4131493008}"/>
              </a:ext>
            </a:extLst>
          </p:cNvPr>
          <p:cNvSpPr txBox="1"/>
          <p:nvPr/>
        </p:nvSpPr>
        <p:spPr>
          <a:xfrm>
            <a:off x="595312" y="4397544"/>
            <a:ext cx="10858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 Insight:</a:t>
            </a: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IN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Blinkit's</a:t>
            </a: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profitability challenge is driven by local operating economics rather than a lack of customer demand</a:t>
            </a:r>
            <a:r>
              <a:rPr lang="en-IN" sz="1600" dirty="0"/>
              <a:t>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4C7C73-37AA-0670-CED9-B396CF75AC80}"/>
              </a:ext>
            </a:extLst>
          </p:cNvPr>
          <p:cNvSpPr txBox="1"/>
          <p:nvPr/>
        </p:nvSpPr>
        <p:spPr>
          <a:xfrm>
            <a:off x="595312" y="5997773"/>
            <a:ext cx="10858500" cy="33855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These root causes directly inform the strategic initiatives proposed in the following section.</a:t>
            </a:r>
          </a:p>
        </p:txBody>
      </p:sp>
    </p:spTree>
    <p:extLst>
      <p:ext uri="{BB962C8B-B14F-4D97-AF65-F5344CB8AC3E}">
        <p14:creationId xmlns:p14="http://schemas.microsoft.com/office/powerpoint/2010/main" val="1635384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08EBDDF-809E-4092-AC4C-878A46D04A8C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743F60-2C25-419F-B9BF-690DBAAFDAE0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Six initiatives lift CM while protecting delivery speed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814DC4-2D77-4BE3-A8BD-BC496350A5DB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Prioritise interventions that change the economics of an existing order before adding capacity.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99CE70-E2E1-40F2-8E7D-12F5F6A5AA6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BD591-1716-4CD3-8191-038D283C854E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67BFD2-EC1F-490E-9126-05CE14E7AD5E}"/>
              </a:ext>
            </a:extLst>
          </p:cNvPr>
          <p:cNvSpPr>
            <a:spLocks noGrp="1"/>
          </p:cNvSpPr>
          <p:nvPr/>
        </p:nvSpPr>
        <p:spPr>
          <a:xfrm>
            <a:off x="619125" y="1600200"/>
            <a:ext cx="2333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INITIATIVE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9B63D3-A53B-45C8-A2BF-EA57E41ED390}"/>
              </a:ext>
            </a:extLst>
          </p:cNvPr>
          <p:cNvSpPr>
            <a:spLocks noGrp="1"/>
          </p:cNvSpPr>
          <p:nvPr/>
        </p:nvSpPr>
        <p:spPr>
          <a:xfrm>
            <a:off x="3143250" y="1600200"/>
            <a:ext cx="371475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2D2D02-69E9-4C33-A631-76D930B9E926}"/>
              </a:ext>
            </a:extLst>
          </p:cNvPr>
          <p:cNvSpPr>
            <a:spLocks noGrp="1"/>
          </p:cNvSpPr>
          <p:nvPr/>
        </p:nvSpPr>
        <p:spPr>
          <a:xfrm>
            <a:off x="7423484" y="1571625"/>
            <a:ext cx="1720516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9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050" b="1" dirty="0"/>
              <a:t>Expected Business Impact</a:t>
            </a:r>
            <a:endParaRPr sz="105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B5EB0B-8080-4BE4-B1F1-8194F112C659}"/>
              </a:ext>
            </a:extLst>
          </p:cNvPr>
          <p:cNvSpPr>
            <a:spLocks noGrp="1"/>
          </p:cNvSpPr>
          <p:nvPr/>
        </p:nvSpPr>
        <p:spPr>
          <a:xfrm>
            <a:off x="9810750" y="16002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DIFFICULTY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1F7790-776E-478D-AB72-8C4C3DA7AA8E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1033462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21C96DF-14CC-446F-9237-6743DA84511A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304800" cy="304800"/>
          </a:xfrm>
          <a:prstGeom prst="ellipse">
            <a:avLst/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9D4FF8-E587-4566-975E-BB547A9B772F}"/>
              </a:ext>
            </a:extLst>
          </p:cNvPr>
          <p:cNvSpPr>
            <a:spLocks noGrp="1"/>
          </p:cNvSpPr>
          <p:nvPr/>
        </p:nvSpPr>
        <p:spPr>
          <a:xfrm>
            <a:off x="619125" y="19907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819B22-C082-41DE-891D-F3BBBE731A3F}"/>
              </a:ext>
            </a:extLst>
          </p:cNvPr>
          <p:cNvSpPr>
            <a:spLocks noGrp="1"/>
          </p:cNvSpPr>
          <p:nvPr/>
        </p:nvSpPr>
        <p:spPr>
          <a:xfrm>
            <a:off x="1095375" y="1952625"/>
            <a:ext cx="1905000" cy="283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/>
              <a:t>Basket Builder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7E2C34-9719-433E-8A98-5A3C13A7C6D6}"/>
              </a:ext>
            </a:extLst>
          </p:cNvPr>
          <p:cNvSpPr>
            <a:spLocks noGrp="1"/>
          </p:cNvSpPr>
          <p:nvPr/>
        </p:nvSpPr>
        <p:spPr>
          <a:xfrm>
            <a:off x="3143250" y="19526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Raise AOV via checkout bundles and replenishment prompts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3DC44F-E941-4F93-8698-F695C23EA86F}"/>
              </a:ext>
            </a:extLst>
          </p:cNvPr>
          <p:cNvSpPr>
            <a:spLocks noGrp="1"/>
          </p:cNvSpPr>
          <p:nvPr/>
        </p:nvSpPr>
        <p:spPr>
          <a:xfrm>
            <a:off x="7620000" y="1952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High</a:t>
            </a:r>
            <a:endParaRPr sz="1200" b="1" dirty="0">
              <a:solidFill>
                <a:srgbClr val="1682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50AC76-0D39-407B-B55C-7E5F399E51C7}"/>
              </a:ext>
            </a:extLst>
          </p:cNvPr>
          <p:cNvSpPr>
            <a:spLocks noGrp="1"/>
          </p:cNvSpPr>
          <p:nvPr/>
        </p:nvSpPr>
        <p:spPr>
          <a:xfrm>
            <a:off x="9810750" y="1952625"/>
            <a:ext cx="838200" cy="247650"/>
          </a:xfrm>
          <a:prstGeom prst="roundRect">
            <a:avLst>
              <a:gd name="adj" fmla="val 46154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ED86C6-EEAA-4872-812D-0E84B74BDFC2}"/>
              </a:ext>
            </a:extLst>
          </p:cNvPr>
          <p:cNvSpPr>
            <a:spLocks noGrp="1"/>
          </p:cNvSpPr>
          <p:nvPr/>
        </p:nvSpPr>
        <p:spPr>
          <a:xfrm>
            <a:off x="9906000" y="1981200"/>
            <a:ext cx="647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C6FB72-24DF-4C73-A1B0-DEEA85285A8C}"/>
              </a:ext>
            </a:extLst>
          </p:cNvPr>
          <p:cNvSpPr>
            <a:spLocks noGrp="1"/>
          </p:cNvSpPr>
          <p:nvPr/>
        </p:nvSpPr>
        <p:spPr>
          <a:xfrm>
            <a:off x="619125" y="2428875"/>
            <a:ext cx="1033462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FE22DE-2DAD-40BE-B2E0-9AAFE543018B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304800" cy="304800"/>
          </a:xfrm>
          <a:prstGeom prst="ellipse">
            <a:avLst/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2AFC53-37AE-4A47-8A96-E42E0A2731ED}"/>
              </a:ext>
            </a:extLst>
          </p:cNvPr>
          <p:cNvSpPr>
            <a:spLocks noGrp="1"/>
          </p:cNvSpPr>
          <p:nvPr/>
        </p:nvSpPr>
        <p:spPr>
          <a:xfrm>
            <a:off x="619125" y="25622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2CFF46-C951-4709-A8A7-32611FB9902D}"/>
              </a:ext>
            </a:extLst>
          </p:cNvPr>
          <p:cNvSpPr>
            <a:spLocks noGrp="1"/>
          </p:cNvSpPr>
          <p:nvPr/>
        </p:nvSpPr>
        <p:spPr>
          <a:xfrm>
            <a:off x="1095375" y="25241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/>
              <a:t>Targeted Discounting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04A937-A04E-4765-AC55-BBCF762F845A}"/>
              </a:ext>
            </a:extLst>
          </p:cNvPr>
          <p:cNvSpPr>
            <a:spLocks noGrp="1"/>
          </p:cNvSpPr>
          <p:nvPr/>
        </p:nvSpPr>
        <p:spPr>
          <a:xfrm>
            <a:off x="3143250" y="2524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Offer targeted discounts on incremental baskets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55B534-9EE1-4E06-9B97-4F20B86980ED}"/>
              </a:ext>
            </a:extLst>
          </p:cNvPr>
          <p:cNvSpPr>
            <a:spLocks noGrp="1"/>
          </p:cNvSpPr>
          <p:nvPr/>
        </p:nvSpPr>
        <p:spPr>
          <a:xfrm>
            <a:off x="7620000" y="25241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Medium</a:t>
            </a:r>
            <a:endParaRPr sz="1200" b="1" dirty="0">
              <a:solidFill>
                <a:srgbClr val="1682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D09604-BFB9-47B4-94DB-6531D3AFC9B1}"/>
              </a:ext>
            </a:extLst>
          </p:cNvPr>
          <p:cNvSpPr>
            <a:spLocks noGrp="1"/>
          </p:cNvSpPr>
          <p:nvPr/>
        </p:nvSpPr>
        <p:spPr>
          <a:xfrm>
            <a:off x="9810750" y="2524125"/>
            <a:ext cx="838200" cy="247650"/>
          </a:xfrm>
          <a:prstGeom prst="roundRect">
            <a:avLst>
              <a:gd name="adj" fmla="val 46154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99C197-BFF3-44AA-A7FA-082D33DDCEB2}"/>
              </a:ext>
            </a:extLst>
          </p:cNvPr>
          <p:cNvSpPr>
            <a:spLocks noGrp="1"/>
          </p:cNvSpPr>
          <p:nvPr/>
        </p:nvSpPr>
        <p:spPr>
          <a:xfrm>
            <a:off x="9906000" y="2552700"/>
            <a:ext cx="647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0B711B-4F3C-4B62-BD0C-B58F811F36F9}"/>
              </a:ext>
            </a:extLst>
          </p:cNvPr>
          <p:cNvSpPr>
            <a:spLocks noGrp="1"/>
          </p:cNvSpPr>
          <p:nvPr/>
        </p:nvSpPr>
        <p:spPr>
          <a:xfrm>
            <a:off x="619125" y="3000375"/>
            <a:ext cx="1033462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B3E31FD-ECD8-46C0-B58A-EBB1A2EA6D13}"/>
              </a:ext>
            </a:extLst>
          </p:cNvPr>
          <p:cNvSpPr>
            <a:spLocks noGrp="1"/>
          </p:cNvSpPr>
          <p:nvPr/>
        </p:nvSpPr>
        <p:spPr>
          <a:xfrm>
            <a:off x="619125" y="3095625"/>
            <a:ext cx="304800" cy="30480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4562EE-6584-4C46-B4C1-F3BD1208FE87}"/>
              </a:ext>
            </a:extLst>
          </p:cNvPr>
          <p:cNvSpPr>
            <a:spLocks noGrp="1"/>
          </p:cNvSpPr>
          <p:nvPr/>
        </p:nvSpPr>
        <p:spPr>
          <a:xfrm>
            <a:off x="619125" y="31337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3BF542D-37DC-4FBE-92DF-E187E82D7226}"/>
              </a:ext>
            </a:extLst>
          </p:cNvPr>
          <p:cNvSpPr>
            <a:spLocks noGrp="1"/>
          </p:cNvSpPr>
          <p:nvPr/>
        </p:nvSpPr>
        <p:spPr>
          <a:xfrm>
            <a:off x="1095375" y="30956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Private-label </a:t>
            </a:r>
            <a:r>
              <a:rPr lang="en-IN" sz="1275" b="1" dirty="0"/>
              <a:t>Expansion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464A29-D81F-404F-AFDB-FAD6ED481193}"/>
              </a:ext>
            </a:extLst>
          </p:cNvPr>
          <p:cNvSpPr>
            <a:spLocks noGrp="1"/>
          </p:cNvSpPr>
          <p:nvPr/>
        </p:nvSpPr>
        <p:spPr>
          <a:xfrm>
            <a:off x="3143250" y="30956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Feature staples where quality and availability are proven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F77291-09C7-495A-963F-EFFAF318049E}"/>
              </a:ext>
            </a:extLst>
          </p:cNvPr>
          <p:cNvSpPr>
            <a:spLocks noGrp="1"/>
          </p:cNvSpPr>
          <p:nvPr/>
        </p:nvSpPr>
        <p:spPr>
          <a:xfrm>
            <a:off x="7620000" y="3095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High</a:t>
            </a:r>
            <a:endParaRPr sz="1200" b="1" dirty="0">
              <a:solidFill>
                <a:srgbClr val="1682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7237F39-0C93-498C-8739-C3EE5BA6239A}"/>
              </a:ext>
            </a:extLst>
          </p:cNvPr>
          <p:cNvSpPr>
            <a:spLocks noGrp="1"/>
          </p:cNvSpPr>
          <p:nvPr/>
        </p:nvSpPr>
        <p:spPr>
          <a:xfrm>
            <a:off x="9810750" y="3095625"/>
            <a:ext cx="838200" cy="247650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B17948-AB7D-4B76-BB7E-3A49D7400FA3}"/>
              </a:ext>
            </a:extLst>
          </p:cNvPr>
          <p:cNvSpPr>
            <a:spLocks noGrp="1"/>
          </p:cNvSpPr>
          <p:nvPr/>
        </p:nvSpPr>
        <p:spPr>
          <a:xfrm>
            <a:off x="9906000" y="3124200"/>
            <a:ext cx="647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993D66-E850-4A29-9B87-5E3D0F30DE30}"/>
              </a:ext>
            </a:extLst>
          </p:cNvPr>
          <p:cNvSpPr>
            <a:spLocks noGrp="1"/>
          </p:cNvSpPr>
          <p:nvPr/>
        </p:nvSpPr>
        <p:spPr>
          <a:xfrm>
            <a:off x="619125" y="3571875"/>
            <a:ext cx="1033462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5A31D61-B3EE-4D7A-9110-EB8C9462C085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304800" cy="30480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DFBB23-38FF-428F-80C7-14892B3A7067}"/>
              </a:ext>
            </a:extLst>
          </p:cNvPr>
          <p:cNvSpPr>
            <a:spLocks noGrp="1"/>
          </p:cNvSpPr>
          <p:nvPr/>
        </p:nvSpPr>
        <p:spPr>
          <a:xfrm>
            <a:off x="619125" y="37052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32327E-67DC-46BD-A22C-657092721076}"/>
              </a:ext>
            </a:extLst>
          </p:cNvPr>
          <p:cNvSpPr>
            <a:spLocks noGrp="1"/>
          </p:cNvSpPr>
          <p:nvPr/>
        </p:nvSpPr>
        <p:spPr>
          <a:xfrm>
            <a:off x="1095374" y="3667125"/>
            <a:ext cx="204787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000" lnSpcReduction="20000"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Rider</a:t>
            </a:r>
            <a:r>
              <a:rPr lang="en-IN" sz="10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and Route Optimisation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A21F80-45CE-4757-988C-12D6A08BF7D9}"/>
              </a:ext>
            </a:extLst>
          </p:cNvPr>
          <p:cNvSpPr>
            <a:spLocks noGrp="1"/>
          </p:cNvSpPr>
          <p:nvPr/>
        </p:nvSpPr>
        <p:spPr>
          <a:xfrm>
            <a:off x="3143250" y="3667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Optimise routing and batching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4E92AA4-3B26-4284-AB97-33DBBE2D6AD9}"/>
              </a:ext>
            </a:extLst>
          </p:cNvPr>
          <p:cNvSpPr>
            <a:spLocks noGrp="1"/>
          </p:cNvSpPr>
          <p:nvPr/>
        </p:nvSpPr>
        <p:spPr>
          <a:xfrm>
            <a:off x="7620000" y="36671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High</a:t>
            </a:r>
            <a:endParaRPr sz="1200" b="1" dirty="0">
              <a:solidFill>
                <a:srgbClr val="1682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85981EC-BFE8-48AB-A999-F398DE542771}"/>
              </a:ext>
            </a:extLst>
          </p:cNvPr>
          <p:cNvSpPr>
            <a:spLocks noGrp="1"/>
          </p:cNvSpPr>
          <p:nvPr/>
        </p:nvSpPr>
        <p:spPr>
          <a:xfrm>
            <a:off x="9810750" y="3667125"/>
            <a:ext cx="838200" cy="247650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5268072-EA78-4E4C-BB32-10334F0C8EEE}"/>
              </a:ext>
            </a:extLst>
          </p:cNvPr>
          <p:cNvSpPr>
            <a:spLocks noGrp="1"/>
          </p:cNvSpPr>
          <p:nvPr/>
        </p:nvSpPr>
        <p:spPr>
          <a:xfrm>
            <a:off x="9906000" y="3695700"/>
            <a:ext cx="647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C463933-A88C-4DBB-890F-1ADFE3005188}"/>
              </a:ext>
            </a:extLst>
          </p:cNvPr>
          <p:cNvSpPr>
            <a:spLocks noGrp="1"/>
          </p:cNvSpPr>
          <p:nvPr/>
        </p:nvSpPr>
        <p:spPr>
          <a:xfrm>
            <a:off x="619125" y="4143375"/>
            <a:ext cx="1033462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09B084-2202-442B-8C37-1D971330A12D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304800" cy="30480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CC47CD-48E6-4A4C-AE8F-47F731715395}"/>
              </a:ext>
            </a:extLst>
          </p:cNvPr>
          <p:cNvSpPr>
            <a:spLocks noGrp="1"/>
          </p:cNvSpPr>
          <p:nvPr/>
        </p:nvSpPr>
        <p:spPr>
          <a:xfrm>
            <a:off x="619125" y="42767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1F4FE2-EA06-42F8-8800-6B2551F29BAD}"/>
              </a:ext>
            </a:extLst>
          </p:cNvPr>
          <p:cNvSpPr>
            <a:spLocks noGrp="1"/>
          </p:cNvSpPr>
          <p:nvPr/>
        </p:nvSpPr>
        <p:spPr>
          <a:xfrm>
            <a:off x="1095375" y="42386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/>
              <a:t>Dark Store Productivity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A1A8B39-368A-44CB-B3C9-0C8359782638}"/>
              </a:ext>
            </a:extLst>
          </p:cNvPr>
          <p:cNvSpPr>
            <a:spLocks noGrp="1"/>
          </p:cNvSpPr>
          <p:nvPr/>
        </p:nvSpPr>
        <p:spPr>
          <a:xfrm>
            <a:off x="3143250" y="42386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Improve picking efficiency, staffing and assortment.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392CC1-2CFC-4E4C-9F3E-31AFCF30872B}"/>
              </a:ext>
            </a:extLst>
          </p:cNvPr>
          <p:cNvSpPr>
            <a:spLocks noGrp="1"/>
          </p:cNvSpPr>
          <p:nvPr/>
        </p:nvSpPr>
        <p:spPr>
          <a:xfrm>
            <a:off x="7620000" y="42386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High</a:t>
            </a:r>
            <a:endParaRPr sz="1200" b="1" dirty="0">
              <a:solidFill>
                <a:srgbClr val="1682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E40C1433-47A6-4BE7-B890-914388B46EE1}"/>
              </a:ext>
            </a:extLst>
          </p:cNvPr>
          <p:cNvSpPr>
            <a:spLocks noGrp="1"/>
          </p:cNvSpPr>
          <p:nvPr/>
        </p:nvSpPr>
        <p:spPr>
          <a:xfrm>
            <a:off x="9810750" y="4238625"/>
            <a:ext cx="838200" cy="247650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63F9FF-8A69-4DDC-B20C-29AC8BF462FF}"/>
              </a:ext>
            </a:extLst>
          </p:cNvPr>
          <p:cNvSpPr>
            <a:spLocks noGrp="1"/>
          </p:cNvSpPr>
          <p:nvPr/>
        </p:nvSpPr>
        <p:spPr>
          <a:xfrm>
            <a:off x="9906000" y="4267200"/>
            <a:ext cx="647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766A86A-1E3A-4E2A-AC93-F9C0A5F96EDE}"/>
              </a:ext>
            </a:extLst>
          </p:cNvPr>
          <p:cNvSpPr>
            <a:spLocks noGrp="1"/>
          </p:cNvSpPr>
          <p:nvPr/>
        </p:nvSpPr>
        <p:spPr>
          <a:xfrm>
            <a:off x="619125" y="4714875"/>
            <a:ext cx="10334625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41E339C-4D21-4BBC-A466-92ED5194D15F}"/>
              </a:ext>
            </a:extLst>
          </p:cNvPr>
          <p:cNvSpPr>
            <a:spLocks noGrp="1"/>
          </p:cNvSpPr>
          <p:nvPr/>
        </p:nvSpPr>
        <p:spPr>
          <a:xfrm>
            <a:off x="619125" y="4810125"/>
            <a:ext cx="304800" cy="304800"/>
          </a:xfrm>
          <a:prstGeom prst="ellipse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1C8D538-3A74-435C-BF81-4BB36F46ECAA}"/>
              </a:ext>
            </a:extLst>
          </p:cNvPr>
          <p:cNvSpPr>
            <a:spLocks noGrp="1"/>
          </p:cNvSpPr>
          <p:nvPr/>
        </p:nvSpPr>
        <p:spPr>
          <a:xfrm>
            <a:off x="619125" y="4848225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306933C-4689-4DEC-8ECD-ECBCCEBF9593}"/>
              </a:ext>
            </a:extLst>
          </p:cNvPr>
          <p:cNvSpPr>
            <a:spLocks noGrp="1"/>
          </p:cNvSpPr>
          <p:nvPr/>
        </p:nvSpPr>
        <p:spPr>
          <a:xfrm>
            <a:off x="1095375" y="481012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275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Blinkit</a:t>
            </a:r>
            <a:r>
              <a:rPr lang="en-IN" sz="1275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Plus Optimization</a:t>
            </a:r>
            <a:endParaRPr sz="1275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0157326-8BC5-4A18-BF14-8B635145DDAA}"/>
              </a:ext>
            </a:extLst>
          </p:cNvPr>
          <p:cNvSpPr>
            <a:spLocks noGrp="1"/>
          </p:cNvSpPr>
          <p:nvPr/>
        </p:nvSpPr>
        <p:spPr>
          <a:xfrm>
            <a:off x="3143250" y="4810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Price benefits by frequency, basket and city cohort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C8DE18E-5398-42BF-9C43-1ACC910D34D5}"/>
              </a:ext>
            </a:extLst>
          </p:cNvPr>
          <p:cNvSpPr>
            <a:spLocks noGrp="1"/>
          </p:cNvSpPr>
          <p:nvPr/>
        </p:nvSpPr>
        <p:spPr>
          <a:xfrm>
            <a:off x="7620000" y="4810125"/>
            <a:ext cx="152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200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Medium</a:t>
            </a:r>
            <a:endParaRPr sz="1200" b="1" dirty="0">
              <a:solidFill>
                <a:srgbClr val="16826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B17C828-B03C-4C05-B793-EC4AF8F4D577}"/>
              </a:ext>
            </a:extLst>
          </p:cNvPr>
          <p:cNvSpPr>
            <a:spLocks noGrp="1"/>
          </p:cNvSpPr>
          <p:nvPr/>
        </p:nvSpPr>
        <p:spPr>
          <a:xfrm>
            <a:off x="9810750" y="4810125"/>
            <a:ext cx="838200" cy="247650"/>
          </a:xfrm>
          <a:prstGeom prst="roundRect">
            <a:avLst>
              <a:gd name="adj" fmla="val 46154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91FF2FD-85D3-4EB3-A9C6-51835E01327A}"/>
              </a:ext>
            </a:extLst>
          </p:cNvPr>
          <p:cNvSpPr>
            <a:spLocks noGrp="1"/>
          </p:cNvSpPr>
          <p:nvPr/>
        </p:nvSpPr>
        <p:spPr>
          <a:xfrm>
            <a:off x="9906000" y="4838700"/>
            <a:ext cx="6477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48D440-1F76-7D93-82B9-3666D3E84D8C}"/>
              </a:ext>
            </a:extLst>
          </p:cNvPr>
          <p:cNvSpPr txBox="1"/>
          <p:nvPr/>
        </p:nvSpPr>
        <p:spPr>
          <a:xfrm>
            <a:off x="457201" y="5522495"/>
            <a:ext cx="10496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Recommendations are prioritised based on expected profitability impact, implementation complexity, and alignment with </a:t>
            </a:r>
            <a:r>
              <a:rPr lang="en-IN" sz="1600" b="1" dirty="0" err="1"/>
              <a:t>Blinkit's</a:t>
            </a:r>
            <a:r>
              <a:rPr lang="en-IN" sz="1600" b="1" dirty="0"/>
              <a:t> 10-minute delivery promise.</a:t>
            </a:r>
          </a:p>
        </p:txBody>
      </p:sp>
    </p:spTree>
    <p:extLst>
      <p:ext uri="{BB962C8B-B14F-4D97-AF65-F5344CB8AC3E}">
        <p14:creationId xmlns:p14="http://schemas.microsoft.com/office/powerpoint/2010/main" val="495486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31C666D-2A97-4D34-AA19-6F02480AE4F9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98D7AF-A650-46AF-ADEC-6802162E0557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5659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9027"/>
          </a:bodyPr>
          <a:lstStyle/>
          <a:p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Start with basket and discount levers; earn the right to scale network </a:t>
            </a:r>
            <a:r>
              <a:rPr sz="24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optimisation</a:t>
            </a:r>
            <a:endParaRPr lang="en-IN"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75652B-A19A-4693-88F1-C494F793AB76}"/>
              </a:ext>
            </a:extLst>
          </p:cNvPr>
          <p:cNvSpPr>
            <a:spLocks noGrp="1"/>
          </p:cNvSpPr>
          <p:nvPr/>
        </p:nvSpPr>
        <p:spPr>
          <a:xfrm>
            <a:off x="457200" y="1023186"/>
            <a:ext cx="105727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Impact vs effort </a:t>
            </a:r>
            <a:r>
              <a:rPr sz="1400" b="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prioritisation</a:t>
            </a:r>
            <a:r>
              <a:rPr sz="1400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36F5E0-6885-4D17-B960-9094BB3E5EB5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A49129-6EDF-429A-B625-57D3CB5E2CC1}"/>
              </a:ext>
            </a:extLst>
          </p:cNvPr>
          <p:cNvSpPr>
            <a:spLocks noGrp="1"/>
          </p:cNvSpPr>
          <p:nvPr/>
        </p:nvSpPr>
        <p:spPr>
          <a:xfrm>
            <a:off x="1619250" y="3714750"/>
            <a:ext cx="78105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BBEC8-8ED2-44AC-A68D-7E184DE16DE2}"/>
              </a:ext>
            </a:extLst>
          </p:cNvPr>
          <p:cNvSpPr>
            <a:spLocks noGrp="1"/>
          </p:cNvSpPr>
          <p:nvPr/>
        </p:nvSpPr>
        <p:spPr>
          <a:xfrm>
            <a:off x="5524500" y="2000250"/>
            <a:ext cx="19050" cy="19050"/>
          </a:xfrm>
          <a:prstGeom prst="rect">
            <a:avLst/>
          </a:prstGeom>
          <a:ln w="0"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E1210-9F15-4ADC-8FC6-B42212B5D068}"/>
              </a:ext>
            </a:extLst>
          </p:cNvPr>
          <p:cNvSpPr>
            <a:spLocks noGrp="1"/>
          </p:cNvSpPr>
          <p:nvPr/>
        </p:nvSpPr>
        <p:spPr>
          <a:xfrm>
            <a:off x="1619250" y="5638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LOW EFFORT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7CA93-D7C5-4CCA-990D-D1A9DD76959F}"/>
              </a:ext>
            </a:extLst>
          </p:cNvPr>
          <p:cNvSpPr>
            <a:spLocks noGrp="1"/>
          </p:cNvSpPr>
          <p:nvPr/>
        </p:nvSpPr>
        <p:spPr>
          <a:xfrm>
            <a:off x="7620000" y="5638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HIGH EFFORT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1F7CAA-8BB9-4FEA-9572-651B2B92F69C}"/>
              </a:ext>
            </a:extLst>
          </p:cNvPr>
          <p:cNvSpPr>
            <a:spLocks noGrp="1"/>
          </p:cNvSpPr>
          <p:nvPr/>
        </p:nvSpPr>
        <p:spPr>
          <a:xfrm>
            <a:off x="457200" y="20955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HIGH IMPACT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EDC9D-B3A0-4892-A249-5A4307171A2F}"/>
              </a:ext>
            </a:extLst>
          </p:cNvPr>
          <p:cNvSpPr>
            <a:spLocks noGrp="1"/>
          </p:cNvSpPr>
          <p:nvPr/>
        </p:nvSpPr>
        <p:spPr>
          <a:xfrm>
            <a:off x="457200" y="49530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0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LOW IMPACT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FA6F0-19C8-4446-A529-10B31CE845A8}"/>
              </a:ext>
            </a:extLst>
          </p:cNvPr>
          <p:cNvSpPr>
            <a:spLocks noGrp="1"/>
          </p:cNvSpPr>
          <p:nvPr/>
        </p:nvSpPr>
        <p:spPr>
          <a:xfrm>
            <a:off x="1809750" y="2209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lang="en-IN" sz="1125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IMMEDIATE</a:t>
            </a:r>
            <a:r>
              <a:rPr sz="1125" b="1" dirty="0">
                <a:solidFill>
                  <a:srgbClr val="16826C"/>
                </a:solidFill>
                <a:latin typeface="Arial"/>
                <a:ea typeface="Arial"/>
                <a:cs typeface="Arial"/>
              </a:rPr>
              <a:t> WINS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94276-CFC6-4199-90AE-4FAFB3A5851A}"/>
              </a:ext>
            </a:extLst>
          </p:cNvPr>
          <p:cNvSpPr>
            <a:spLocks noGrp="1"/>
          </p:cNvSpPr>
          <p:nvPr/>
        </p:nvSpPr>
        <p:spPr>
          <a:xfrm>
            <a:off x="5810250" y="220980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7500" lnSpcReduction="20000"/>
          </a:bodyPr>
          <a:lstStyle/>
          <a:p>
            <a:pPr algn="l">
              <a:defRPr sz="1125" b="1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3B82F6"/>
                </a:solidFill>
                <a:latin typeface="Arial"/>
                <a:ea typeface="Arial"/>
                <a:cs typeface="Arial"/>
              </a:rPr>
              <a:t>STRATEGIC </a:t>
            </a:r>
            <a:r>
              <a:rPr lang="en-IN" sz="1125" b="1" dirty="0">
                <a:solidFill>
                  <a:srgbClr val="3B82F6"/>
                </a:solidFill>
                <a:latin typeface="Arial"/>
                <a:ea typeface="Arial"/>
                <a:cs typeface="Arial"/>
              </a:rPr>
              <a:t>INVESTMENTS</a:t>
            </a:r>
            <a:endParaRPr sz="1125" b="1" dirty="0">
              <a:solidFill>
                <a:srgbClr val="3B82F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04545-BA35-4DBB-A795-13389C7D740B}"/>
              </a:ext>
            </a:extLst>
          </p:cNvPr>
          <p:cNvSpPr>
            <a:spLocks noGrp="1"/>
          </p:cNvSpPr>
          <p:nvPr/>
        </p:nvSpPr>
        <p:spPr>
          <a:xfrm>
            <a:off x="1802342" y="50006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FFC000"/>
                </a:solidFill>
                <a:latin typeface="Arial"/>
                <a:ea typeface="Arial"/>
                <a:cs typeface="Arial"/>
              </a:rPr>
              <a:t>LOW PRIORITY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5EA9DE-C674-481F-8218-E10FACB2D41D}"/>
              </a:ext>
            </a:extLst>
          </p:cNvPr>
          <p:cNvSpPr>
            <a:spLocks noGrp="1"/>
          </p:cNvSpPr>
          <p:nvPr/>
        </p:nvSpPr>
        <p:spPr>
          <a:xfrm>
            <a:off x="5810250" y="5000625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/>
          </a:bodyPr>
          <a:lstStyle/>
          <a:p>
            <a:pPr algn="l">
              <a:defRPr sz="1125" b="1">
                <a:solidFill>
                  <a:srgbClr val="D94A4A"/>
                </a:solidFill>
                <a:latin typeface="Arial"/>
                <a:ea typeface="Arial"/>
                <a:cs typeface="Arial"/>
              </a:defRPr>
            </a:pPr>
            <a:r>
              <a:rPr lang="en-IN" sz="1125" b="1" dirty="0">
                <a:solidFill>
                  <a:srgbClr val="D94A4A"/>
                </a:solidFill>
                <a:latin typeface="Arial"/>
                <a:ea typeface="Arial"/>
                <a:cs typeface="Arial"/>
              </a:rPr>
              <a:t>LONG TERM INITIATIVES</a:t>
            </a:r>
            <a:endParaRPr sz="1125" b="1" dirty="0">
              <a:solidFill>
                <a:srgbClr val="D94A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FB81F8-E5EA-4A23-9113-2657D6B42D68}"/>
              </a:ext>
            </a:extLst>
          </p:cNvPr>
          <p:cNvSpPr>
            <a:spLocks noGrp="1"/>
          </p:cNvSpPr>
          <p:nvPr/>
        </p:nvSpPr>
        <p:spPr>
          <a:xfrm>
            <a:off x="3114675" y="3091614"/>
            <a:ext cx="1428750" cy="272715"/>
          </a:xfrm>
          <a:prstGeom prst="roundRect">
            <a:avLst>
              <a:gd name="adj" fmla="val 34286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2E906A-3889-462B-BFDF-E4816CE84502}"/>
              </a:ext>
            </a:extLst>
          </p:cNvPr>
          <p:cNvSpPr>
            <a:spLocks noGrp="1"/>
          </p:cNvSpPr>
          <p:nvPr/>
        </p:nvSpPr>
        <p:spPr>
          <a:xfrm>
            <a:off x="3114675" y="3162300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IN" sz="975" b="1" dirty="0"/>
              <a:t>Basket Builder</a:t>
            </a:r>
            <a:endParaRPr sz="9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0B86E1-F2DE-4601-980A-60D5EE65A3B3}"/>
              </a:ext>
            </a:extLst>
          </p:cNvPr>
          <p:cNvSpPr>
            <a:spLocks noGrp="1"/>
          </p:cNvSpPr>
          <p:nvPr/>
        </p:nvSpPr>
        <p:spPr>
          <a:xfrm>
            <a:off x="2905125" y="3714751"/>
            <a:ext cx="1428750" cy="267760"/>
          </a:xfrm>
          <a:prstGeom prst="roundRect">
            <a:avLst>
              <a:gd name="adj" fmla="val 34286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1E93EF-C8B3-4CB2-A06B-7EF21FEBF32B}"/>
              </a:ext>
            </a:extLst>
          </p:cNvPr>
          <p:cNvSpPr>
            <a:spLocks noGrp="1"/>
          </p:cNvSpPr>
          <p:nvPr/>
        </p:nvSpPr>
        <p:spPr>
          <a:xfrm>
            <a:off x="2971800" y="378142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Discount guardrails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DEAC88-5271-4DC9-BFAB-A8AE580EE62E}"/>
              </a:ext>
            </a:extLst>
          </p:cNvPr>
          <p:cNvSpPr>
            <a:spLocks noGrp="1"/>
          </p:cNvSpPr>
          <p:nvPr/>
        </p:nvSpPr>
        <p:spPr>
          <a:xfrm>
            <a:off x="5095875" y="3162300"/>
            <a:ext cx="1428750" cy="259234"/>
          </a:xfrm>
          <a:prstGeom prst="roundRect">
            <a:avLst>
              <a:gd name="adj" fmla="val 34286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 sz="1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E262E29-5ECF-4969-AE82-D3BB21EDA5A4}"/>
              </a:ext>
            </a:extLst>
          </p:cNvPr>
          <p:cNvSpPr>
            <a:spLocks noGrp="1"/>
          </p:cNvSpPr>
          <p:nvPr/>
        </p:nvSpPr>
        <p:spPr>
          <a:xfrm>
            <a:off x="5274469" y="3746500"/>
            <a:ext cx="1428750" cy="236010"/>
          </a:xfrm>
          <a:prstGeom prst="roundRect">
            <a:avLst>
              <a:gd name="adj" fmla="val 34286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pPr algn="ctr"/>
            <a:r>
              <a:rPr lang="en-IN" sz="10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 productivity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F37A5A-9D3C-406C-B5A2-D2A18F8E271A}"/>
              </a:ext>
            </a:extLst>
          </p:cNvPr>
          <p:cNvSpPr>
            <a:spLocks noGrp="1"/>
          </p:cNvSpPr>
          <p:nvPr/>
        </p:nvSpPr>
        <p:spPr>
          <a:xfrm>
            <a:off x="7496175" y="349567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Store productivity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DF76C9-A635-4B11-A3D6-2BA12FFF6BB6}"/>
              </a:ext>
            </a:extLst>
          </p:cNvPr>
          <p:cNvSpPr>
            <a:spLocks noGrp="1"/>
          </p:cNvSpPr>
          <p:nvPr/>
        </p:nvSpPr>
        <p:spPr>
          <a:xfrm>
            <a:off x="5659052" y="4307416"/>
            <a:ext cx="1994815" cy="236010"/>
          </a:xfrm>
          <a:prstGeom prst="roundRect">
            <a:avLst>
              <a:gd name="adj" fmla="val 34286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r>
              <a:rPr lang="en-IN" sz="1200" b="1" dirty="0">
                <a:solidFill>
                  <a:schemeClr val="bg1"/>
                </a:solidFill>
              </a:rPr>
              <a:t>Rider &amp; Route Optimisation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F7E8CB-56AE-4D43-AC9E-05229B1DF485}"/>
              </a:ext>
            </a:extLst>
          </p:cNvPr>
          <p:cNvSpPr>
            <a:spLocks noGrp="1"/>
          </p:cNvSpPr>
          <p:nvPr/>
        </p:nvSpPr>
        <p:spPr>
          <a:xfrm>
            <a:off x="8382000" y="4476750"/>
            <a:ext cx="1428750" cy="333375"/>
          </a:xfrm>
          <a:prstGeom prst="roundRect">
            <a:avLst>
              <a:gd name="adj" fmla="val 34286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C5F10B-C0B5-499F-9570-03FEA41381F0}"/>
              </a:ext>
            </a:extLst>
          </p:cNvPr>
          <p:cNvSpPr>
            <a:spLocks noGrp="1"/>
          </p:cNvSpPr>
          <p:nvPr/>
        </p:nvSpPr>
        <p:spPr>
          <a:xfrm>
            <a:off x="8448675" y="4543425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000" lnSpcReduction="10000"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IN" sz="975" b="1" dirty="0" err="1"/>
              <a:t>Blinkit</a:t>
            </a:r>
            <a:r>
              <a:rPr lang="en-IN" sz="975" b="1" dirty="0"/>
              <a:t> Plus Optimisation</a:t>
            </a:r>
            <a:endParaRPr sz="9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E4DA576-65F4-411B-91C9-221C705C9A94}"/>
              </a:ext>
            </a:extLst>
          </p:cNvPr>
          <p:cNvSpPr>
            <a:spLocks noGrp="1"/>
          </p:cNvSpPr>
          <p:nvPr/>
        </p:nvSpPr>
        <p:spPr>
          <a:xfrm>
            <a:off x="9834562" y="2317750"/>
            <a:ext cx="619125" cy="247650"/>
          </a:xfrm>
          <a:prstGeom prst="roundRect">
            <a:avLst>
              <a:gd name="adj" fmla="val 46154"/>
            </a:avLst>
          </a:prstGeom>
          <a:solidFill>
            <a:srgbClr val="19212D"/>
          </a:solidFill>
          <a:ln w="9525">
            <a:solidFill>
              <a:srgbClr val="19212D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E5EEA-D055-41F6-AF56-2B26B5BC0CF9}"/>
              </a:ext>
            </a:extLst>
          </p:cNvPr>
          <p:cNvSpPr>
            <a:spLocks noGrp="1"/>
          </p:cNvSpPr>
          <p:nvPr/>
        </p:nvSpPr>
        <p:spPr>
          <a:xfrm>
            <a:off x="9715500" y="2600325"/>
            <a:ext cx="42862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7500" lnSpcReduction="20000"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IN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Scaling </a:t>
            </a:r>
            <a:r>
              <a:rPr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BE0492-2AAF-4FA3-9E73-DDDFD5D2E828}"/>
              </a:ext>
            </a:extLst>
          </p:cNvPr>
          <p:cNvSpPr>
            <a:spLocks noGrp="1"/>
          </p:cNvSpPr>
          <p:nvPr/>
        </p:nvSpPr>
        <p:spPr>
          <a:xfrm>
            <a:off x="9613899" y="2825838"/>
            <a:ext cx="1435894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 lnSpcReduction="10000"/>
          </a:bodyPr>
          <a:lstStyle/>
          <a:p>
            <a:pPr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/>
              <a:t>Scale only after delivery reliability and repeat purchase metrics remain stable</a:t>
            </a:r>
            <a:r>
              <a:rPr lang="en-US"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0B7627A-F495-4D43-8A0A-8793BAF6A6F7}"/>
              </a:ext>
            </a:extLst>
          </p:cNvPr>
          <p:cNvSpPr>
            <a:spLocks noGrp="1"/>
          </p:cNvSpPr>
          <p:nvPr/>
        </p:nvSpPr>
        <p:spPr>
          <a:xfrm>
            <a:off x="5167312" y="3257550"/>
            <a:ext cx="1295400" cy="1067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Private-label</a:t>
            </a:r>
            <a:r>
              <a:rPr lang="en-IN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Expansion</a:t>
            </a:r>
            <a:endParaRPr sz="9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559845-38C1-6E13-12DE-CF8FD9293D70}"/>
              </a:ext>
            </a:extLst>
          </p:cNvPr>
          <p:cNvSpPr>
            <a:spLocks noGrp="1"/>
          </p:cNvSpPr>
          <p:nvPr/>
        </p:nvSpPr>
        <p:spPr>
          <a:xfrm>
            <a:off x="7686675" y="4019550"/>
            <a:ext cx="1295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6204" lnSpcReduction="20000"/>
          </a:bodyPr>
          <a:lstStyle/>
          <a:p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IN" sz="975" b="1" dirty="0"/>
              <a:t>Rider &amp; Route Optimisation</a:t>
            </a:r>
            <a:endParaRPr sz="9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CCD92FE-4581-FA2F-5063-99D7190ECDA9}"/>
              </a:ext>
            </a:extLst>
          </p:cNvPr>
          <p:cNvSpPr/>
          <p:nvPr/>
        </p:nvSpPr>
        <p:spPr>
          <a:xfrm>
            <a:off x="9175750" y="2193925"/>
            <a:ext cx="2063750" cy="1552575"/>
          </a:xfrm>
          <a:prstGeom prst="roundRect">
            <a:avLst>
              <a:gd name="adj" fmla="val 20757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/>
                </a:solidFill>
              </a:rPr>
              <a:t>Scaling GATE:</a:t>
            </a:r>
          </a:p>
          <a:p>
            <a:pPr algn="ctr"/>
            <a:endParaRPr lang="en-US" sz="1050" b="1" dirty="0"/>
          </a:p>
          <a:p>
            <a:pPr algn="ctr"/>
            <a:r>
              <a:rPr lang="en-US" sz="1050" b="1" dirty="0">
                <a:solidFill>
                  <a:schemeClr val="tx1"/>
                </a:solidFill>
              </a:rPr>
              <a:t>Scale only after delivery reliability and repeat purchase metrics remain stable</a:t>
            </a:r>
            <a:endParaRPr lang="en-US" sz="1050" b="1" dirty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IN" sz="10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D69963-B446-8371-3CA7-71D281070B21}"/>
              </a:ext>
            </a:extLst>
          </p:cNvPr>
          <p:cNvSpPr txBox="1"/>
          <p:nvPr/>
        </p:nvSpPr>
        <p:spPr>
          <a:xfrm>
            <a:off x="419100" y="6000750"/>
            <a:ext cx="6043612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Prioritise</a:t>
            </a:r>
            <a:r>
              <a:rPr lang="en-US" sz="1400" b="1" dirty="0"/>
              <a:t> quick wins before investing in more complex operational initiatives</a:t>
            </a:r>
            <a:endParaRPr lang="en-US" sz="1400" b="1" dirty="0">
              <a:latin typeface="Arial"/>
              <a:ea typeface="Arial"/>
              <a:cs typeface="Arial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296292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BF7EE18-C81D-4F6E-A1EC-0D077BB22F4F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ABB29E-7957-47D6-B99B-519EC2A6C79B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3442"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/>
              <a:t>KPI Dashboard to Balance Growth and Profitability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0159F0-D902-43A8-9188-A288C0F4C582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400" dirty="0"/>
              <a:t>Monitor a balanced set of KPIs to ensure growth improves profitability, operations and customer experience together</a:t>
            </a:r>
            <a:endParaRPr sz="1400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2C9BC2-F5FE-4A7F-9B80-2FE838C87F7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ACD8D1-43C1-4BB1-8467-521C462BD8F3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B1D1FE-0557-4310-8427-CED3BBD1A63A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2428875" cy="2619375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AF6274-EC1F-4800-B581-590703E53716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2428875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95B2B0-81E3-46D9-87D3-77C0174F414D}"/>
              </a:ext>
            </a:extLst>
          </p:cNvPr>
          <p:cNvSpPr>
            <a:spLocks noGrp="1"/>
          </p:cNvSpPr>
          <p:nvPr/>
        </p:nvSpPr>
        <p:spPr>
          <a:xfrm>
            <a:off x="714375" y="2266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/>
              <a:t>Revenue Growth</a:t>
            </a:r>
            <a:endParaRPr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FAD983-1026-45B1-BE3C-BDC7273E464D}"/>
              </a:ext>
            </a:extLst>
          </p:cNvPr>
          <p:cNvSpPr>
            <a:spLocks noGrp="1"/>
          </p:cNvSpPr>
          <p:nvPr/>
        </p:nvSpPr>
        <p:spPr>
          <a:xfrm>
            <a:off x="714375" y="2781300"/>
            <a:ext cx="2000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AOV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Private-label attach</a:t>
            </a:r>
          </a:p>
          <a:p>
            <a:pPr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350" dirty="0"/>
              <a:t>Advertising Revenue / Order</a:t>
            </a:r>
            <a:endParaRPr sz="1350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DD64DD-B4FB-4932-A3F6-842E1F2B079F}"/>
              </a:ext>
            </a:extLst>
          </p:cNvPr>
          <p:cNvSpPr>
            <a:spLocks noGrp="1"/>
          </p:cNvSpPr>
          <p:nvPr/>
        </p:nvSpPr>
        <p:spPr>
          <a:xfrm>
            <a:off x="3333750" y="1952625"/>
            <a:ext cx="2428875" cy="2619375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2F8AF8B-9815-4AB0-885F-3F9F4D4EBC1C}"/>
              </a:ext>
            </a:extLst>
          </p:cNvPr>
          <p:cNvSpPr>
            <a:spLocks noGrp="1"/>
          </p:cNvSpPr>
          <p:nvPr/>
        </p:nvSpPr>
        <p:spPr>
          <a:xfrm>
            <a:off x="3333750" y="1952625"/>
            <a:ext cx="2428875" cy="95250"/>
          </a:xfrm>
          <a:prstGeom prst="roundRect">
            <a:avLst>
              <a:gd name="adj" fmla="val 50000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2DB3A4-52A8-42D0-8642-C661757F6B38}"/>
              </a:ext>
            </a:extLst>
          </p:cNvPr>
          <p:cNvSpPr>
            <a:spLocks noGrp="1"/>
          </p:cNvSpPr>
          <p:nvPr/>
        </p:nvSpPr>
        <p:spPr>
          <a:xfrm>
            <a:off x="3524250" y="2266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/>
              <a:t>Profitability</a:t>
            </a:r>
            <a:endParaRPr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B089A8-02BA-4467-8AA3-567D148AC762}"/>
              </a:ext>
            </a:extLst>
          </p:cNvPr>
          <p:cNvSpPr>
            <a:spLocks noGrp="1"/>
          </p:cNvSpPr>
          <p:nvPr/>
        </p:nvSpPr>
        <p:spPr>
          <a:xfrm>
            <a:off x="3524250" y="2781300"/>
            <a:ext cx="20002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Contribution margin / order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Discount / order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Delivery cost / order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F4E21ED-D99B-422F-B484-80106184D369}"/>
              </a:ext>
            </a:extLst>
          </p:cNvPr>
          <p:cNvSpPr>
            <a:spLocks noGrp="1"/>
          </p:cNvSpPr>
          <p:nvPr/>
        </p:nvSpPr>
        <p:spPr>
          <a:xfrm>
            <a:off x="6143624" y="1966912"/>
            <a:ext cx="2428875" cy="2619375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AF4E2D-9184-4D1C-B25B-A93A4CAD800F}"/>
              </a:ext>
            </a:extLst>
          </p:cNvPr>
          <p:cNvSpPr>
            <a:spLocks noGrp="1"/>
          </p:cNvSpPr>
          <p:nvPr/>
        </p:nvSpPr>
        <p:spPr>
          <a:xfrm>
            <a:off x="6143625" y="1952625"/>
            <a:ext cx="2428875" cy="952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77E53C-30B4-45EF-BB99-549CC6D6287E}"/>
              </a:ext>
            </a:extLst>
          </p:cNvPr>
          <p:cNvSpPr>
            <a:spLocks noGrp="1"/>
          </p:cNvSpPr>
          <p:nvPr/>
        </p:nvSpPr>
        <p:spPr>
          <a:xfrm>
            <a:off x="6334125" y="2266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D86C72-39F0-45C6-B5FC-8F9D45476061}"/>
              </a:ext>
            </a:extLst>
          </p:cNvPr>
          <p:cNvSpPr>
            <a:spLocks noGrp="1"/>
          </p:cNvSpPr>
          <p:nvPr/>
        </p:nvSpPr>
        <p:spPr>
          <a:xfrm>
            <a:off x="6334125" y="2543175"/>
            <a:ext cx="2000250" cy="14287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Orders / rider hour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Dark-store </a:t>
            </a:r>
            <a:r>
              <a:rPr sz="135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utilisation</a:t>
            </a:r>
            <a:endParaRPr sz="1350" b="0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Pick-to-dispatch time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156C044-EEFC-4A5F-84A1-A6E234380CEE}"/>
              </a:ext>
            </a:extLst>
          </p:cNvPr>
          <p:cNvSpPr>
            <a:spLocks noGrp="1"/>
          </p:cNvSpPr>
          <p:nvPr/>
        </p:nvSpPr>
        <p:spPr>
          <a:xfrm>
            <a:off x="8953498" y="1966912"/>
            <a:ext cx="2428875" cy="2619375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15BA53A-DB4F-412F-AB83-781ED17C00C3}"/>
              </a:ext>
            </a:extLst>
          </p:cNvPr>
          <p:cNvSpPr>
            <a:spLocks noGrp="1"/>
          </p:cNvSpPr>
          <p:nvPr/>
        </p:nvSpPr>
        <p:spPr>
          <a:xfrm>
            <a:off x="8953500" y="1952625"/>
            <a:ext cx="2428875" cy="95250"/>
          </a:xfrm>
          <a:prstGeom prst="roundRect">
            <a:avLst>
              <a:gd name="adj" fmla="val 50000"/>
            </a:avLst>
          </a:prstGeom>
          <a:solidFill>
            <a:srgbClr val="D94A4A"/>
          </a:solidFill>
          <a:ln w="9525">
            <a:solidFill>
              <a:srgbClr val="D94A4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C0243A-ABDA-4DC2-AA54-591D6D5A41A0}"/>
              </a:ext>
            </a:extLst>
          </p:cNvPr>
          <p:cNvSpPr>
            <a:spLocks noGrp="1"/>
          </p:cNvSpPr>
          <p:nvPr/>
        </p:nvSpPr>
        <p:spPr>
          <a:xfrm>
            <a:off x="9144000" y="22669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500" b="1" dirty="0"/>
              <a:t>Customer Experience</a:t>
            </a:r>
            <a:endParaRPr sz="15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B8AC4D-CE63-47D6-9F2C-A7909CCD772F}"/>
              </a:ext>
            </a:extLst>
          </p:cNvPr>
          <p:cNvSpPr>
            <a:spLocks noGrp="1"/>
          </p:cNvSpPr>
          <p:nvPr/>
        </p:nvSpPr>
        <p:spPr>
          <a:xfrm>
            <a:off x="9144000" y="2514600"/>
            <a:ext cx="2000250" cy="1457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Repeat purchase rate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On-time delivery rate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NPS / support contacts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3DBF2D-8C53-4C23-8BE0-9A2D738C19BC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1762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491" lnSpcReduction="10000"/>
          </a:bodyPr>
          <a:lstStyle/>
          <a:p>
            <a:pPr algn="l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Operating cadence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C1F637-541F-4476-BB8F-D84BCDEC0BBE}"/>
              </a:ext>
            </a:extLst>
          </p:cNvPr>
          <p:cNvSpPr>
            <a:spLocks noGrp="1"/>
          </p:cNvSpPr>
          <p:nvPr/>
        </p:nvSpPr>
        <p:spPr>
          <a:xfrm>
            <a:off x="2428875" y="5048250"/>
            <a:ext cx="762000" cy="247650"/>
          </a:xfrm>
          <a:prstGeom prst="roundRect">
            <a:avLst>
              <a:gd name="adj" fmla="val 46154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3D0091-F4A5-4E74-9185-3A2F18608320}"/>
              </a:ext>
            </a:extLst>
          </p:cNvPr>
          <p:cNvSpPr>
            <a:spLocks noGrp="1"/>
          </p:cNvSpPr>
          <p:nvPr/>
        </p:nvSpPr>
        <p:spPr>
          <a:xfrm>
            <a:off x="2524125" y="5076825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Daily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BA67F2-53ED-4049-B1F6-933015C69C26}"/>
              </a:ext>
            </a:extLst>
          </p:cNvPr>
          <p:cNvSpPr>
            <a:spLocks noGrp="1"/>
          </p:cNvSpPr>
          <p:nvPr/>
        </p:nvSpPr>
        <p:spPr>
          <a:xfrm>
            <a:off x="2428875" y="5410200"/>
            <a:ext cx="22860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C998EE-9D76-47D4-80EC-2611C4056737}"/>
              </a:ext>
            </a:extLst>
          </p:cNvPr>
          <p:cNvSpPr>
            <a:spLocks noGrp="1"/>
          </p:cNvSpPr>
          <p:nvPr/>
        </p:nvSpPr>
        <p:spPr>
          <a:xfrm>
            <a:off x="5286375" y="5048250"/>
            <a:ext cx="762000" cy="247650"/>
          </a:xfrm>
          <a:prstGeom prst="roundRect">
            <a:avLst>
              <a:gd name="adj" fmla="val 46154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18EBB0-0564-411E-951E-F041613B9CF8}"/>
              </a:ext>
            </a:extLst>
          </p:cNvPr>
          <p:cNvSpPr>
            <a:spLocks noGrp="1"/>
          </p:cNvSpPr>
          <p:nvPr/>
        </p:nvSpPr>
        <p:spPr>
          <a:xfrm>
            <a:off x="5381625" y="5076825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145C49-C0D4-44D9-88B1-6ABB747E4A19}"/>
              </a:ext>
            </a:extLst>
          </p:cNvPr>
          <p:cNvSpPr>
            <a:spLocks noGrp="1"/>
          </p:cNvSpPr>
          <p:nvPr/>
        </p:nvSpPr>
        <p:spPr>
          <a:xfrm>
            <a:off x="5286375" y="5419725"/>
            <a:ext cx="2286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endParaRPr sz="12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F7F549A-D371-4901-B3F3-F5541E0AA1BD}"/>
              </a:ext>
            </a:extLst>
          </p:cNvPr>
          <p:cNvSpPr>
            <a:spLocks noGrp="1"/>
          </p:cNvSpPr>
          <p:nvPr/>
        </p:nvSpPr>
        <p:spPr>
          <a:xfrm>
            <a:off x="8143875" y="5048250"/>
            <a:ext cx="762000" cy="247650"/>
          </a:xfrm>
          <a:prstGeom prst="roundRect">
            <a:avLst>
              <a:gd name="adj" fmla="val 46154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9EA81A-FA9F-46E7-8DAE-C86B9A52C782}"/>
              </a:ext>
            </a:extLst>
          </p:cNvPr>
          <p:cNvSpPr>
            <a:spLocks noGrp="1"/>
          </p:cNvSpPr>
          <p:nvPr/>
        </p:nvSpPr>
        <p:spPr>
          <a:xfrm>
            <a:off x="8239125" y="5076825"/>
            <a:ext cx="571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Monthly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70647B-B493-A1B1-88ED-B48ADB5788CB}"/>
              </a:ext>
            </a:extLst>
          </p:cNvPr>
          <p:cNvSpPr txBox="1"/>
          <p:nvPr/>
        </p:nvSpPr>
        <p:spPr>
          <a:xfrm>
            <a:off x="5204732" y="5353050"/>
            <a:ext cx="1762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CM/Order by store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AOV trends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Discount efficiency</a:t>
            </a:r>
          </a:p>
          <a:p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715242-F727-DD9D-966B-1ABE53B0ABBF}"/>
              </a:ext>
            </a:extLst>
          </p:cNvPr>
          <p:cNvSpPr txBox="1"/>
          <p:nvPr/>
        </p:nvSpPr>
        <p:spPr>
          <a:xfrm>
            <a:off x="2398599" y="5356820"/>
            <a:ext cx="1584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Rider availability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Stock-outs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SLA adherence</a:t>
            </a:r>
          </a:p>
          <a:p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1A0A0A-4BA0-C764-1584-D51AD4F91F66}"/>
              </a:ext>
            </a:extLst>
          </p:cNvPr>
          <p:cNvSpPr txBox="1"/>
          <p:nvPr/>
        </p:nvSpPr>
        <p:spPr>
          <a:xfrm>
            <a:off x="8109857" y="5311854"/>
            <a:ext cx="2160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Expansion decisions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Store performance review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Network optimisation</a:t>
            </a:r>
          </a:p>
          <a:p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F98F5D-4D0E-26DD-1269-0B18E6493BB8}"/>
              </a:ext>
            </a:extLst>
          </p:cNvPr>
          <p:cNvSpPr txBox="1"/>
          <p:nvPr/>
        </p:nvSpPr>
        <p:spPr>
          <a:xfrm>
            <a:off x="439208" y="6406634"/>
            <a:ext cx="10943165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/>
              <a:t>Decision Principle: </a:t>
            </a:r>
            <a:r>
              <a:rPr lang="en-IN" dirty="0"/>
              <a:t> Expand only when both growth metrics and unit economics improve together.</a:t>
            </a:r>
          </a:p>
        </p:txBody>
      </p:sp>
    </p:spTree>
    <p:extLst>
      <p:ext uri="{BB962C8B-B14F-4D97-AF65-F5344CB8AC3E}">
        <p14:creationId xmlns:p14="http://schemas.microsoft.com/office/powerpoint/2010/main" val="188717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68890C9-08C3-4455-9E77-96583C8AAC7E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BLINKIT PROFITABILITY CASE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328CD1-4A8A-4C7D-82F5-166DD7AC9D32}"/>
              </a:ext>
            </a:extLst>
          </p:cNvPr>
          <p:cNvSpPr>
            <a:spLocks noGrp="1"/>
          </p:cNvSpPr>
          <p:nvPr/>
        </p:nvSpPr>
        <p:spPr>
          <a:xfrm>
            <a:off x="457200" y="552450"/>
            <a:ext cx="10572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2400" b="1" dirty="0"/>
              <a:t>Six-Month Implementation Roadmap</a:t>
            </a:r>
            <a:endParaRPr sz="24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199C01-1087-4AF6-8153-75D39C8CB4DA}"/>
              </a:ext>
            </a:extLst>
          </p:cNvPr>
          <p:cNvSpPr>
            <a:spLocks noGrp="1"/>
          </p:cNvSpPr>
          <p:nvPr/>
        </p:nvSpPr>
        <p:spPr>
          <a:xfrm>
            <a:off x="457200" y="1019175"/>
            <a:ext cx="1057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dirty="0"/>
              <a:t>Roll out initiatives in phases to validate unit economics before scaling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6D3268-8D40-4096-ACC4-9372E3A5E73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428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90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sz="900" b="1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A3C8AB-E5E4-4871-B7BB-D1C95DC3896B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11277600" cy="19050"/>
          </a:xfrm>
          <a:prstGeom prst="rect">
            <a:avLst/>
          </a:prstGeom>
          <a:solidFill>
            <a:srgbClr val="D9DEE7"/>
          </a:solidFill>
          <a:ln w="0">
            <a:solidFill>
              <a:srgbClr val="D9DEE7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C466D2B-18AF-4494-B820-BE74E5C307A8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3238500" cy="2667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67D7ED-B4A0-4DEF-BAAB-944F6815D86E}"/>
              </a:ext>
            </a:extLst>
          </p:cNvPr>
          <p:cNvSpPr>
            <a:spLocks noGrp="1"/>
          </p:cNvSpPr>
          <p:nvPr/>
        </p:nvSpPr>
        <p:spPr>
          <a:xfrm>
            <a:off x="571500" y="195262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7EA20-BE3F-482C-89EF-446B5D3FCA76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MONTHS 1-2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ABE7C1-4785-4FDF-9305-E1A3619F6F85}"/>
              </a:ext>
            </a:extLst>
          </p:cNvPr>
          <p:cNvSpPr>
            <a:spLocks noGrp="1"/>
          </p:cNvSpPr>
          <p:nvPr/>
        </p:nvSpPr>
        <p:spPr>
          <a:xfrm>
            <a:off x="809625" y="26670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Diagnose &amp; pilot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EE5083-315F-429B-B880-706D38838927}"/>
              </a:ext>
            </a:extLst>
          </p:cNvPr>
          <p:cNvSpPr>
            <a:spLocks noGrp="1"/>
          </p:cNvSpPr>
          <p:nvPr/>
        </p:nvSpPr>
        <p:spPr>
          <a:xfrm>
            <a:off x="809625" y="3286125"/>
            <a:ext cx="2714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lvl="0"/>
            <a:r>
              <a:rPr lang="en-IN" sz="1400" dirty="0"/>
              <a:t>Establish CM/Order baseline </a:t>
            </a:r>
          </a:p>
          <a:p>
            <a:pPr lvl="0"/>
            <a:r>
              <a:rPr lang="en-IN" sz="1400" dirty="0"/>
              <a:t>Pilot basket bundles </a:t>
            </a:r>
          </a:p>
          <a:p>
            <a:pPr lvl="0"/>
            <a:r>
              <a:rPr lang="en-IN" sz="1400" dirty="0"/>
              <a:t>Introduce targeted discount rules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66A060-EE9B-467C-85B3-D13A162104E5}"/>
              </a:ext>
            </a:extLst>
          </p:cNvPr>
          <p:cNvSpPr>
            <a:spLocks noGrp="1"/>
          </p:cNvSpPr>
          <p:nvPr/>
        </p:nvSpPr>
        <p:spPr>
          <a:xfrm>
            <a:off x="4286250" y="1952625"/>
            <a:ext cx="3238500" cy="2667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91DEAF-4282-4774-9C4C-B7AD6E0760A2}"/>
              </a:ext>
            </a:extLst>
          </p:cNvPr>
          <p:cNvSpPr>
            <a:spLocks noGrp="1"/>
          </p:cNvSpPr>
          <p:nvPr/>
        </p:nvSpPr>
        <p:spPr>
          <a:xfrm>
            <a:off x="4286250" y="195262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B80250-CB7D-4210-9180-5349DFF6744A}"/>
              </a:ext>
            </a:extLst>
          </p:cNvPr>
          <p:cNvSpPr>
            <a:spLocks noGrp="1"/>
          </p:cNvSpPr>
          <p:nvPr/>
        </p:nvSpPr>
        <p:spPr>
          <a:xfrm>
            <a:off x="4524375" y="22860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16826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826C"/>
                </a:solidFill>
                <a:latin typeface="Arial"/>
                <a:ea typeface="Arial"/>
                <a:cs typeface="Arial"/>
              </a:rPr>
              <a:t>MONTHS 3-4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E81D36-40A3-4B45-8B40-8841F324586C}"/>
              </a:ext>
            </a:extLst>
          </p:cNvPr>
          <p:cNvSpPr>
            <a:spLocks noGrp="1"/>
          </p:cNvSpPr>
          <p:nvPr/>
        </p:nvSpPr>
        <p:spPr>
          <a:xfrm>
            <a:off x="4524375" y="26670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Scale proven</a:t>
            </a:r>
            <a:r>
              <a:rPr lang="en-IN" sz="18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Initiatives</a:t>
            </a:r>
            <a:endParaRPr sz="18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083D8D-36BF-4E43-9EBA-C590C9A2C475}"/>
              </a:ext>
            </a:extLst>
          </p:cNvPr>
          <p:cNvSpPr>
            <a:spLocks noGrp="1"/>
          </p:cNvSpPr>
          <p:nvPr/>
        </p:nvSpPr>
        <p:spPr>
          <a:xfrm>
            <a:off x="4524375" y="3286125"/>
            <a:ext cx="2714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lvl="0"/>
            <a:r>
              <a:rPr lang="en-IN" sz="1400" dirty="0"/>
              <a:t>Expand private-label placement </a:t>
            </a:r>
          </a:p>
          <a:p>
            <a:pPr lvl="0"/>
            <a:r>
              <a:rPr lang="en-IN" sz="1400" dirty="0"/>
              <a:t>Scale rider &amp; route optimisation </a:t>
            </a:r>
          </a:p>
          <a:p>
            <a:pPr lvl="0"/>
            <a:r>
              <a:rPr lang="en-IN" sz="1400" dirty="0"/>
              <a:t>Standardise dark-store operations</a:t>
            </a:r>
          </a:p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Store </a:t>
            </a:r>
            <a:r>
              <a:rPr sz="1400" b="0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labour</a:t>
            </a:r>
            <a:r>
              <a:rPr sz="1400" b="0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 standards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454FB67-837A-4F71-88C0-452DBD3CDB15}"/>
              </a:ext>
            </a:extLst>
          </p:cNvPr>
          <p:cNvSpPr>
            <a:spLocks noGrp="1"/>
          </p:cNvSpPr>
          <p:nvPr/>
        </p:nvSpPr>
        <p:spPr>
          <a:xfrm>
            <a:off x="8001000" y="1952625"/>
            <a:ext cx="3238500" cy="2667000"/>
          </a:xfrm>
          <a:prstGeom prst="roundRect">
            <a:avLst>
              <a:gd name="adj" fmla="val 4286"/>
            </a:avLst>
          </a:prstGeom>
          <a:solidFill>
            <a:srgbClr val="F5F7FA"/>
          </a:solidFill>
          <a:ln w="9525">
            <a:solidFill>
              <a:srgbClr val="D9DEE7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3A6F70-A459-4033-983B-C753FFCC2552}"/>
              </a:ext>
            </a:extLst>
          </p:cNvPr>
          <p:cNvSpPr>
            <a:spLocks noGrp="1"/>
          </p:cNvSpPr>
          <p:nvPr/>
        </p:nvSpPr>
        <p:spPr>
          <a:xfrm>
            <a:off x="8001000" y="1952625"/>
            <a:ext cx="3238500" cy="1143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3986A5-9B15-4C08-A2E0-EF96150ABF14}"/>
              </a:ext>
            </a:extLst>
          </p:cNvPr>
          <p:cNvSpPr>
            <a:spLocks noGrp="1"/>
          </p:cNvSpPr>
          <p:nvPr/>
        </p:nvSpPr>
        <p:spPr>
          <a:xfrm>
            <a:off x="8239125" y="228600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1">
                <a:solidFill>
                  <a:srgbClr val="F9731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97316"/>
                </a:solidFill>
                <a:latin typeface="Arial"/>
                <a:ea typeface="Arial"/>
                <a:cs typeface="Arial"/>
              </a:rPr>
              <a:t>MONTHS 5-6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81044-9761-4872-80D8-87D7E349641A}"/>
              </a:ext>
            </a:extLst>
          </p:cNvPr>
          <p:cNvSpPr>
            <a:spLocks noGrp="1"/>
          </p:cNvSpPr>
          <p:nvPr/>
        </p:nvSpPr>
        <p:spPr>
          <a:xfrm>
            <a:off x="8239125" y="26670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500"/>
          </a:bodyPr>
          <a:lstStyle/>
          <a:p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lang="en-IN" sz="18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Scale and </a:t>
            </a:r>
            <a:r>
              <a:rPr sz="1800" b="1" dirty="0" err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Institutionalise</a:t>
            </a:r>
            <a:endParaRPr sz="1800" b="1" dirty="0">
              <a:solidFill>
                <a:srgbClr val="11182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B31607-F2DD-41D5-B7B6-21BEDA8F4D96}"/>
              </a:ext>
            </a:extLst>
          </p:cNvPr>
          <p:cNvSpPr>
            <a:spLocks noGrp="1"/>
          </p:cNvSpPr>
          <p:nvPr/>
        </p:nvSpPr>
        <p:spPr>
          <a:xfrm>
            <a:off x="8239125" y="3161800"/>
            <a:ext cx="2714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lvl="0"/>
            <a:r>
              <a:rPr lang="en-IN" sz="1400" dirty="0"/>
              <a:t>Optimise </a:t>
            </a:r>
            <a:r>
              <a:rPr lang="en-IN" sz="1400" dirty="0" err="1"/>
              <a:t>Blinkit</a:t>
            </a:r>
            <a:r>
              <a:rPr lang="en-IN" sz="1400" dirty="0"/>
              <a:t> Plus </a:t>
            </a:r>
          </a:p>
          <a:p>
            <a:pPr lvl="0"/>
            <a:r>
              <a:rPr lang="en-IN" sz="1400" dirty="0"/>
              <a:t>Launch KPI control tower </a:t>
            </a:r>
          </a:p>
          <a:p>
            <a:pPr lvl="0"/>
            <a:r>
              <a:rPr lang="en-IN" sz="1400" dirty="0"/>
              <a:t>Apply scaling gate for expansion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6BD680-FEA7-46C9-984F-B6DCD398D587}"/>
              </a:ext>
            </a:extLst>
          </p:cNvPr>
          <p:cNvSpPr>
            <a:spLocks noGrp="1"/>
          </p:cNvSpPr>
          <p:nvPr/>
        </p:nvSpPr>
        <p:spPr>
          <a:xfrm>
            <a:off x="1143000" y="5286375"/>
            <a:ext cx="9525000" cy="190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EDCE2C5-AE33-47C9-916A-260B35E5FD22}"/>
              </a:ext>
            </a:extLst>
          </p:cNvPr>
          <p:cNvSpPr>
            <a:spLocks noGrp="1"/>
          </p:cNvSpPr>
          <p:nvPr/>
        </p:nvSpPr>
        <p:spPr>
          <a:xfrm>
            <a:off x="1047750" y="5191125"/>
            <a:ext cx="190500" cy="19050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E4762C-E859-406E-9152-57AE0C109D19}"/>
              </a:ext>
            </a:extLst>
          </p:cNvPr>
          <p:cNvSpPr>
            <a:spLocks noGrp="1"/>
          </p:cNvSpPr>
          <p:nvPr/>
        </p:nvSpPr>
        <p:spPr>
          <a:xfrm>
            <a:off x="5667375" y="5191125"/>
            <a:ext cx="190500" cy="190500"/>
          </a:xfrm>
          <a:prstGeom prst="ellipse">
            <a:avLst/>
          </a:prstGeom>
          <a:solidFill>
            <a:srgbClr val="16826C"/>
          </a:solidFill>
          <a:ln w="9525">
            <a:solidFill>
              <a:srgbClr val="16826C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26C94E2-C31A-482F-8875-3E9568F7914B}"/>
              </a:ext>
            </a:extLst>
          </p:cNvPr>
          <p:cNvSpPr>
            <a:spLocks noGrp="1"/>
          </p:cNvSpPr>
          <p:nvPr/>
        </p:nvSpPr>
        <p:spPr>
          <a:xfrm>
            <a:off x="9442450" y="5176337"/>
            <a:ext cx="190500" cy="190500"/>
          </a:xfrm>
          <a:prstGeom prst="ellipse">
            <a:avLst/>
          </a:prstGeom>
          <a:solidFill>
            <a:srgbClr val="F97316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C48460-07E6-4884-9E49-1DF8B3FCC3F3}"/>
              </a:ext>
            </a:extLst>
          </p:cNvPr>
          <p:cNvSpPr>
            <a:spLocks noGrp="1"/>
          </p:cNvSpPr>
          <p:nvPr/>
        </p:nvSpPr>
        <p:spPr>
          <a:xfrm>
            <a:off x="571500" y="55245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Milestone</a:t>
            </a:r>
            <a:r>
              <a:rPr sz="1125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: </a:t>
            </a:r>
            <a:r>
              <a:rPr lang="en-IN" sz="1125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</a:t>
            </a:r>
            <a:r>
              <a:rPr sz="1125" b="0" dirty="0" err="1">
                <a:solidFill>
                  <a:srgbClr val="5B6472"/>
                </a:solidFill>
                <a:latin typeface="Arial"/>
                <a:ea typeface="Arial"/>
                <a:cs typeface="Arial"/>
              </a:rPr>
              <a:t>aseline</a:t>
            </a:r>
            <a:r>
              <a:rPr sz="1125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 </a:t>
            </a:r>
            <a:r>
              <a:rPr lang="en-IN" sz="1125" b="0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</a:t>
            </a:r>
            <a:r>
              <a:rPr lang="en-IN" sz="1125" dirty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alidated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98AF9A1-2A95-465A-AD74-458674DBA342}"/>
              </a:ext>
            </a:extLst>
          </p:cNvPr>
          <p:cNvSpPr>
            <a:spLocks noGrp="1"/>
          </p:cNvSpPr>
          <p:nvPr/>
        </p:nvSpPr>
        <p:spPr>
          <a:xfrm>
            <a:off x="4714875" y="5515475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b="1" dirty="0"/>
              <a:t>Milestone:</a:t>
            </a:r>
            <a:r>
              <a:rPr lang="en-IN" sz="1125" dirty="0"/>
              <a:t> Pilot KPIs achieved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8BF45F-FBEB-410F-94F2-5DA6F6DC8329}"/>
              </a:ext>
            </a:extLst>
          </p:cNvPr>
          <p:cNvSpPr>
            <a:spLocks noGrp="1"/>
          </p:cNvSpPr>
          <p:nvPr/>
        </p:nvSpPr>
        <p:spPr>
          <a:xfrm>
            <a:off x="8691562" y="55245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1125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lang="en-IN" sz="1125" b="1" dirty="0"/>
              <a:t>Milestone:</a:t>
            </a:r>
            <a:r>
              <a:rPr lang="en-IN" sz="1125" dirty="0"/>
              <a:t> Expansion decision</a:t>
            </a:r>
            <a:endParaRPr sz="1125" b="0" dirty="0">
              <a:solidFill>
                <a:srgbClr val="5B64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B3826C1-1AAC-43CE-0CAA-B5F04ADF3ED0}"/>
              </a:ext>
            </a:extLst>
          </p:cNvPr>
          <p:cNvSpPr/>
          <p:nvPr/>
        </p:nvSpPr>
        <p:spPr>
          <a:xfrm>
            <a:off x="571500" y="5877926"/>
            <a:ext cx="10668000" cy="721841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Guiding Principle:</a:t>
            </a:r>
            <a:r>
              <a:rPr lang="en-IN" dirty="0"/>
              <a:t> Validate contribution margin improvements before expanding capacity or entering new zones.</a:t>
            </a:r>
          </a:p>
        </p:txBody>
      </p:sp>
    </p:spTree>
    <p:extLst>
      <p:ext uri="{BB962C8B-B14F-4D97-AF65-F5344CB8AC3E}">
        <p14:creationId xmlns:p14="http://schemas.microsoft.com/office/powerpoint/2010/main" val="4709251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3305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1654</Words>
  <Application>Microsoft Office PowerPoint</Application>
  <DocSecurity>0</DocSecurity>
  <PresentationFormat>Widescreen</PresentationFormat>
  <Paragraphs>288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Daksh Bansal</cp:lastModifiedBy>
  <cp:revision>4</cp:revision>
  <dcterms:created xsi:type="dcterms:W3CDTF">2026-07-29T13:29:43Z</dcterms:created>
  <dcterms:modified xsi:type="dcterms:W3CDTF">2026-07-30T19:25:21Z</dcterms:modified>
</cp:coreProperties>
</file>